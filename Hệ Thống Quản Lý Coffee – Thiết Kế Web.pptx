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63" r:id="rId4"/>
    <p:sldId id="264" r:id="rId5"/>
    <p:sldId id="258" r:id="rId6"/>
    <p:sldId id="259" r:id="rId7"/>
    <p:sldId id="260" r:id="rId8"/>
    <p:sldId id="261" r:id="rId9"/>
    <p:sldId id="265" r:id="rId10"/>
    <p:sldId id="262" r:id="rId11"/>
  </p:sldIdLst>
  <p:sldSz cx="18288000" cy="10287000"/>
  <p:notesSz cx="6858000" cy="9144000"/>
  <p:embeddedFontLst>
    <p:embeddedFont>
      <p:font typeface="Arial MT Pro" panose="020B0604020202020204" charset="0"/>
      <p:regular r:id="rId12"/>
    </p:embeddedFont>
    <p:embeddedFont>
      <p:font typeface="Arial MT Pro Bold"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1317"/>
    <a:srgbClr val="11121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29"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519"/>
        </a:solidFill>
        <a:effectLst/>
      </p:bgPr>
    </p:bg>
    <p:spTree>
      <p:nvGrpSpPr>
        <p:cNvPr id="1" name=""/>
        <p:cNvGrpSpPr/>
        <p:nvPr/>
      </p:nvGrpSpPr>
      <p:grpSpPr>
        <a:xfrm>
          <a:off x="0" y="0"/>
          <a:ext cx="0" cy="0"/>
          <a:chOff x="0" y="0"/>
          <a:chExt cx="0" cy="0"/>
        </a:xfrm>
      </p:grpSpPr>
      <p:sp>
        <p:nvSpPr>
          <p:cNvPr id="2" name="Freeform 2"/>
          <p:cNvSpPr/>
          <p:nvPr/>
        </p:nvSpPr>
        <p:spPr>
          <a:xfrm>
            <a:off x="7411819" y="-5846936"/>
            <a:ext cx="11645406" cy="19899568"/>
          </a:xfrm>
          <a:custGeom>
            <a:avLst/>
            <a:gdLst/>
            <a:ahLst/>
            <a:cxnLst/>
            <a:rect l="l" t="t" r="r" b="b"/>
            <a:pathLst>
              <a:path w="11645406" h="19899568">
                <a:moveTo>
                  <a:pt x="0" y="0"/>
                </a:moveTo>
                <a:lnTo>
                  <a:pt x="11645407" y="0"/>
                </a:lnTo>
                <a:lnTo>
                  <a:pt x="11645407" y="19899568"/>
                </a:lnTo>
                <a:lnTo>
                  <a:pt x="0" y="19899568"/>
                </a:lnTo>
                <a:lnTo>
                  <a:pt x="0" y="0"/>
                </a:lnTo>
                <a:close/>
              </a:path>
            </a:pathLst>
          </a:custGeom>
          <a:blipFill>
            <a:blip r:embed="rId2">
              <a:alphaModFix amt="60000"/>
            </a:blip>
            <a:stretch>
              <a:fillRect/>
            </a:stretch>
          </a:blipFill>
        </p:spPr>
      </p:sp>
      <p:grpSp>
        <p:nvGrpSpPr>
          <p:cNvPr id="7" name="Group 7"/>
          <p:cNvGrpSpPr/>
          <p:nvPr/>
        </p:nvGrpSpPr>
        <p:grpSpPr>
          <a:xfrm rot="1383774">
            <a:off x="7565571" y="197405"/>
            <a:ext cx="11226909" cy="14341591"/>
            <a:chOff x="0" y="0"/>
            <a:chExt cx="2956881" cy="3777209"/>
          </a:xfrm>
        </p:grpSpPr>
        <p:sp>
          <p:nvSpPr>
            <p:cNvPr id="8" name="Freeform 8"/>
            <p:cNvSpPr/>
            <p:nvPr/>
          </p:nvSpPr>
          <p:spPr>
            <a:xfrm>
              <a:off x="0" y="0"/>
              <a:ext cx="2956881" cy="3777209"/>
            </a:xfrm>
            <a:custGeom>
              <a:avLst/>
              <a:gdLst/>
              <a:ahLst/>
              <a:cxnLst/>
              <a:rect l="l" t="t" r="r" b="b"/>
              <a:pathLst>
                <a:path w="2956881" h="3777209">
                  <a:moveTo>
                    <a:pt x="0" y="0"/>
                  </a:moveTo>
                  <a:lnTo>
                    <a:pt x="2956881" y="0"/>
                  </a:lnTo>
                  <a:lnTo>
                    <a:pt x="2956881" y="3777209"/>
                  </a:lnTo>
                  <a:lnTo>
                    <a:pt x="0" y="3777209"/>
                  </a:lnTo>
                  <a:close/>
                </a:path>
              </a:pathLst>
            </a:custGeom>
            <a:gradFill rotWithShape="1">
              <a:gsLst>
                <a:gs pos="0">
                  <a:srgbClr val="141519">
                    <a:alpha val="100000"/>
                  </a:srgbClr>
                </a:gs>
                <a:gs pos="100000">
                  <a:srgbClr val="141519">
                    <a:alpha val="0"/>
                  </a:srgbClr>
                </a:gs>
              </a:gsLst>
              <a:lin ang="0"/>
            </a:gradFill>
          </p:spPr>
        </p:sp>
        <p:sp>
          <p:nvSpPr>
            <p:cNvPr id="9" name="TextBox 9"/>
            <p:cNvSpPr txBox="1"/>
            <p:nvPr/>
          </p:nvSpPr>
          <p:spPr>
            <a:xfrm>
              <a:off x="0" y="28575"/>
              <a:ext cx="2956881" cy="3748634"/>
            </a:xfrm>
            <a:prstGeom prst="rect">
              <a:avLst/>
            </a:prstGeom>
          </p:spPr>
          <p:txBody>
            <a:bodyPr lIns="50800" tIns="50800" rIns="50800" bIns="50800" rtlCol="0" anchor="ctr"/>
            <a:lstStyle/>
            <a:p>
              <a:pPr marL="0" lvl="0" indent="0" algn="ctr">
                <a:lnSpc>
                  <a:spcPts val="2267"/>
                </a:lnSpc>
              </a:pPr>
              <a:endParaRPr/>
            </a:p>
          </p:txBody>
        </p:sp>
      </p:grpSp>
      <p:grpSp>
        <p:nvGrpSpPr>
          <p:cNvPr id="10" name="Group 10"/>
          <p:cNvGrpSpPr/>
          <p:nvPr/>
        </p:nvGrpSpPr>
        <p:grpSpPr>
          <a:xfrm rot="1383774">
            <a:off x="7012072" y="108644"/>
            <a:ext cx="10773748" cy="14341591"/>
            <a:chOff x="0" y="0"/>
            <a:chExt cx="2837530" cy="3777209"/>
          </a:xfrm>
        </p:grpSpPr>
        <p:sp>
          <p:nvSpPr>
            <p:cNvPr id="11" name="Freeform 11"/>
            <p:cNvSpPr/>
            <p:nvPr/>
          </p:nvSpPr>
          <p:spPr>
            <a:xfrm>
              <a:off x="0" y="0"/>
              <a:ext cx="2837530" cy="3777209"/>
            </a:xfrm>
            <a:custGeom>
              <a:avLst/>
              <a:gdLst/>
              <a:ahLst/>
              <a:cxnLst/>
              <a:rect l="l" t="t" r="r" b="b"/>
              <a:pathLst>
                <a:path w="2837530" h="3777209">
                  <a:moveTo>
                    <a:pt x="0" y="0"/>
                  </a:moveTo>
                  <a:lnTo>
                    <a:pt x="2837530" y="0"/>
                  </a:lnTo>
                  <a:lnTo>
                    <a:pt x="2837530" y="3777209"/>
                  </a:lnTo>
                  <a:lnTo>
                    <a:pt x="0" y="3777209"/>
                  </a:lnTo>
                  <a:close/>
                </a:path>
              </a:pathLst>
            </a:custGeom>
            <a:gradFill rotWithShape="1">
              <a:gsLst>
                <a:gs pos="0">
                  <a:srgbClr val="141519">
                    <a:alpha val="100000"/>
                  </a:srgbClr>
                </a:gs>
                <a:gs pos="100000">
                  <a:srgbClr val="141519">
                    <a:alpha val="0"/>
                  </a:srgbClr>
                </a:gs>
              </a:gsLst>
              <a:lin ang="0"/>
            </a:gradFill>
          </p:spPr>
        </p:sp>
        <p:sp>
          <p:nvSpPr>
            <p:cNvPr id="12" name="TextBox 12"/>
            <p:cNvSpPr txBox="1"/>
            <p:nvPr/>
          </p:nvSpPr>
          <p:spPr>
            <a:xfrm>
              <a:off x="0" y="28575"/>
              <a:ext cx="2837530" cy="3748634"/>
            </a:xfrm>
            <a:prstGeom prst="rect">
              <a:avLst/>
            </a:prstGeom>
          </p:spPr>
          <p:txBody>
            <a:bodyPr lIns="50800" tIns="50800" rIns="50800" bIns="50800" rtlCol="0" anchor="ctr"/>
            <a:lstStyle/>
            <a:p>
              <a:pPr marL="0" lvl="0" indent="0" algn="ctr">
                <a:lnSpc>
                  <a:spcPts val="2267"/>
                </a:lnSpc>
              </a:pPr>
              <a:endParaRPr/>
            </a:p>
          </p:txBody>
        </p:sp>
      </p:grpSp>
      <p:sp>
        <p:nvSpPr>
          <p:cNvPr id="16" name="TextBox 16"/>
          <p:cNvSpPr txBox="1"/>
          <p:nvPr/>
        </p:nvSpPr>
        <p:spPr>
          <a:xfrm>
            <a:off x="3650683" y="3134875"/>
            <a:ext cx="12956918" cy="836768"/>
          </a:xfrm>
          <a:prstGeom prst="rect">
            <a:avLst/>
          </a:prstGeom>
        </p:spPr>
        <p:txBody>
          <a:bodyPr wrap="square" lIns="0" tIns="0" rIns="0" bIns="0" rtlCol="0" anchor="t">
            <a:spAutoFit/>
          </a:bodyPr>
          <a:lstStyle/>
          <a:p>
            <a:pPr marL="0" lvl="0" indent="0" algn="l">
              <a:lnSpc>
                <a:spcPts val="6165"/>
              </a:lnSpc>
            </a:pPr>
            <a:r>
              <a:rPr lang="en-US" sz="8000" b="1" spc="-112" dirty="0" err="1">
                <a:solidFill>
                  <a:srgbClr val="FFFFFF"/>
                </a:solidFill>
                <a:latin typeface="Times New Roman" panose="02020603050405020304" pitchFamily="18" charset="0"/>
                <a:ea typeface="Arial MT Pro Bold"/>
                <a:cs typeface="Times New Roman" panose="02020603050405020304" pitchFamily="18" charset="0"/>
                <a:sym typeface="Arial MT Pro Bold"/>
              </a:rPr>
              <a:t>Hệ</a:t>
            </a:r>
            <a:r>
              <a:rPr lang="en-US" sz="8000" b="1" spc="-112" dirty="0">
                <a:solidFill>
                  <a:srgbClr val="FFFFFF"/>
                </a:solidFill>
                <a:latin typeface="Times New Roman" panose="02020603050405020304" pitchFamily="18" charset="0"/>
                <a:ea typeface="Arial MT Pro Bold"/>
                <a:cs typeface="Times New Roman" panose="02020603050405020304" pitchFamily="18" charset="0"/>
                <a:sym typeface="Arial MT Pro Bold"/>
              </a:rPr>
              <a:t> </a:t>
            </a:r>
            <a:r>
              <a:rPr lang="en-US" sz="8000" b="1" spc="-112" dirty="0" err="1">
                <a:solidFill>
                  <a:srgbClr val="FFFFFF"/>
                </a:solidFill>
                <a:latin typeface="Times New Roman" panose="02020603050405020304" pitchFamily="18" charset="0"/>
                <a:ea typeface="Arial MT Pro Bold"/>
                <a:cs typeface="Times New Roman" panose="02020603050405020304" pitchFamily="18" charset="0"/>
                <a:sym typeface="Arial MT Pro Bold"/>
              </a:rPr>
              <a:t>Thống</a:t>
            </a:r>
            <a:r>
              <a:rPr lang="en-US" sz="8000" b="1" spc="-112" dirty="0">
                <a:solidFill>
                  <a:srgbClr val="FFFFFF"/>
                </a:solidFill>
                <a:latin typeface="Times New Roman" panose="02020603050405020304" pitchFamily="18" charset="0"/>
                <a:ea typeface="Arial MT Pro Bold"/>
                <a:cs typeface="Times New Roman" panose="02020603050405020304" pitchFamily="18" charset="0"/>
                <a:sym typeface="Arial MT Pro Bold"/>
              </a:rPr>
              <a:t> Quản Lý Coffee</a:t>
            </a:r>
          </a:p>
        </p:txBody>
      </p:sp>
      <p:sp>
        <p:nvSpPr>
          <p:cNvPr id="18" name="TextBox 18"/>
          <p:cNvSpPr txBox="1"/>
          <p:nvPr/>
        </p:nvSpPr>
        <p:spPr>
          <a:xfrm>
            <a:off x="1381190" y="7809057"/>
            <a:ext cx="2842925" cy="177934"/>
          </a:xfrm>
          <a:prstGeom prst="rect">
            <a:avLst/>
          </a:prstGeom>
        </p:spPr>
        <p:txBody>
          <a:bodyPr wrap="square" lIns="0" tIns="0" rIns="0" bIns="0" rtlCol="0" anchor="t">
            <a:spAutoFit/>
          </a:bodyPr>
          <a:lstStyle/>
          <a:p>
            <a:pPr marL="0" lvl="0" indent="0" algn="ctr">
              <a:lnSpc>
                <a:spcPts val="1056"/>
              </a:lnSpc>
            </a:pPr>
            <a:r>
              <a:rPr lang="en-US" sz="2400" dirty="0">
                <a:solidFill>
                  <a:srgbClr val="FFFFFF"/>
                </a:solidFill>
                <a:latin typeface="Times New Roman" panose="02020603050405020304" pitchFamily="18" charset="0"/>
                <a:ea typeface="Arial MT Pro"/>
                <a:cs typeface="Times New Roman" panose="02020603050405020304" pitchFamily="18" charset="0"/>
                <a:sym typeface="Arial MT Pro"/>
              </a:rPr>
              <a:t>Đặng Trường Huy</a:t>
            </a:r>
          </a:p>
        </p:txBody>
      </p:sp>
      <p:sp>
        <p:nvSpPr>
          <p:cNvPr id="19" name="TextBox 19"/>
          <p:cNvSpPr txBox="1"/>
          <p:nvPr/>
        </p:nvSpPr>
        <p:spPr>
          <a:xfrm>
            <a:off x="936751" y="7205554"/>
            <a:ext cx="3654265" cy="238079"/>
          </a:xfrm>
          <a:prstGeom prst="rect">
            <a:avLst/>
          </a:prstGeom>
        </p:spPr>
        <p:txBody>
          <a:bodyPr wrap="square" lIns="0" tIns="0" rIns="0" bIns="0" rtlCol="0" anchor="t">
            <a:spAutoFit/>
          </a:bodyPr>
          <a:lstStyle/>
          <a:p>
            <a:pPr marL="0" lvl="0" indent="0" algn="ctr">
              <a:lnSpc>
                <a:spcPts val="1056"/>
              </a:lnSpc>
            </a:pPr>
            <a:r>
              <a:rPr lang="en-US" sz="4400" dirty="0">
                <a:solidFill>
                  <a:srgbClr val="FFFFFF"/>
                </a:solidFill>
                <a:latin typeface="Times New Roman" panose="02020603050405020304" pitchFamily="18" charset="0"/>
                <a:ea typeface="Arial MT Pro"/>
                <a:cs typeface="Times New Roman" panose="02020603050405020304" pitchFamily="18" charset="0"/>
                <a:sym typeface="Arial MT Pro"/>
              </a:rPr>
              <a:t>Thành Viên</a:t>
            </a:r>
          </a:p>
        </p:txBody>
      </p:sp>
      <p:grpSp>
        <p:nvGrpSpPr>
          <p:cNvPr id="22" name="Group 3">
            <a:extLst>
              <a:ext uri="{FF2B5EF4-FFF2-40B4-BE49-F238E27FC236}">
                <a16:creationId xmlns:a16="http://schemas.microsoft.com/office/drawing/2014/main" id="{2B00C0F3-61A5-51CD-523B-24C8BDA6E0EE}"/>
              </a:ext>
            </a:extLst>
          </p:cNvPr>
          <p:cNvGrpSpPr/>
          <p:nvPr/>
        </p:nvGrpSpPr>
        <p:grpSpPr>
          <a:xfrm>
            <a:off x="1143733" y="8336539"/>
            <a:ext cx="3353748" cy="717442"/>
            <a:chOff x="0" y="0"/>
            <a:chExt cx="1899754" cy="406400"/>
          </a:xfrm>
        </p:grpSpPr>
        <p:sp>
          <p:nvSpPr>
            <p:cNvPr id="23" name="Freeform 4">
              <a:extLst>
                <a:ext uri="{FF2B5EF4-FFF2-40B4-BE49-F238E27FC236}">
                  <a16:creationId xmlns:a16="http://schemas.microsoft.com/office/drawing/2014/main" id="{6D568565-2F29-7D74-BBEA-EF9F35EEFA7D}"/>
                </a:ext>
              </a:extLst>
            </p:cNvPr>
            <p:cNvSpPr/>
            <p:nvPr/>
          </p:nvSpPr>
          <p:spPr>
            <a:xfrm>
              <a:off x="0" y="0"/>
              <a:ext cx="1899754" cy="406400"/>
            </a:xfrm>
            <a:custGeom>
              <a:avLst/>
              <a:gdLst/>
              <a:ahLst/>
              <a:cxnLst/>
              <a:rect l="l" t="t" r="r" b="b"/>
              <a:pathLst>
                <a:path w="1899754" h="406400">
                  <a:moveTo>
                    <a:pt x="1696554" y="0"/>
                  </a:moveTo>
                  <a:cubicBezTo>
                    <a:pt x="1808778" y="0"/>
                    <a:pt x="1899754" y="90976"/>
                    <a:pt x="1899754" y="203200"/>
                  </a:cubicBezTo>
                  <a:cubicBezTo>
                    <a:pt x="1899754" y="315424"/>
                    <a:pt x="1808778" y="406400"/>
                    <a:pt x="1696554" y="406400"/>
                  </a:cubicBezTo>
                  <a:lnTo>
                    <a:pt x="203200" y="406400"/>
                  </a:lnTo>
                  <a:cubicBezTo>
                    <a:pt x="90976" y="406400"/>
                    <a:pt x="0" y="315424"/>
                    <a:pt x="0" y="203200"/>
                  </a:cubicBezTo>
                  <a:cubicBezTo>
                    <a:pt x="0" y="90976"/>
                    <a:pt x="90976" y="0"/>
                    <a:pt x="203200" y="0"/>
                  </a:cubicBezTo>
                  <a:close/>
                </a:path>
              </a:pathLst>
            </a:custGeom>
            <a:ln w="9525" cap="sq">
              <a:solidFill>
                <a:srgbClr val="FFFFFF"/>
              </a:solidFill>
              <a:prstDash val="solid"/>
              <a:miter/>
            </a:ln>
          </p:spPr>
        </p:sp>
        <p:sp>
          <p:nvSpPr>
            <p:cNvPr id="24" name="TextBox 5">
              <a:extLst>
                <a:ext uri="{FF2B5EF4-FFF2-40B4-BE49-F238E27FC236}">
                  <a16:creationId xmlns:a16="http://schemas.microsoft.com/office/drawing/2014/main" id="{020954DE-6BC5-936C-0D44-F735E0F4BFF0}"/>
                </a:ext>
              </a:extLst>
            </p:cNvPr>
            <p:cNvSpPr txBox="1"/>
            <p:nvPr/>
          </p:nvSpPr>
          <p:spPr>
            <a:xfrm>
              <a:off x="0" y="-38100"/>
              <a:ext cx="1899754" cy="444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5" name="TextBox 18">
            <a:extLst>
              <a:ext uri="{FF2B5EF4-FFF2-40B4-BE49-F238E27FC236}">
                <a16:creationId xmlns:a16="http://schemas.microsoft.com/office/drawing/2014/main" id="{97573B63-C37A-2380-CF69-60D7F3BD3851}"/>
              </a:ext>
            </a:extLst>
          </p:cNvPr>
          <p:cNvSpPr txBox="1"/>
          <p:nvPr/>
        </p:nvSpPr>
        <p:spPr>
          <a:xfrm>
            <a:off x="1419558" y="8695260"/>
            <a:ext cx="2842925" cy="177934"/>
          </a:xfrm>
          <a:prstGeom prst="rect">
            <a:avLst/>
          </a:prstGeom>
        </p:spPr>
        <p:txBody>
          <a:bodyPr wrap="square" lIns="0" tIns="0" rIns="0" bIns="0" rtlCol="0" anchor="t">
            <a:spAutoFit/>
          </a:bodyPr>
          <a:lstStyle/>
          <a:p>
            <a:pPr marL="0" lvl="0" indent="0" algn="ctr">
              <a:lnSpc>
                <a:spcPts val="1056"/>
              </a:lnSpc>
            </a:pPr>
            <a:r>
              <a:rPr lang="en-US" sz="2400" dirty="0">
                <a:solidFill>
                  <a:srgbClr val="FFFFFF"/>
                </a:solidFill>
                <a:latin typeface="Times New Roman" panose="02020603050405020304" pitchFamily="18" charset="0"/>
                <a:ea typeface="Arial MT Pro"/>
                <a:cs typeface="Times New Roman" panose="02020603050405020304" pitchFamily="18" charset="0"/>
                <a:sym typeface="Arial MT Pro"/>
              </a:rPr>
              <a:t>Lê Thanh </a:t>
            </a:r>
            <a:r>
              <a:rPr lang="en-US" sz="2400" dirty="0" err="1">
                <a:solidFill>
                  <a:srgbClr val="FFFFFF"/>
                </a:solidFill>
                <a:latin typeface="Times New Roman" panose="02020603050405020304" pitchFamily="18" charset="0"/>
                <a:ea typeface="Arial MT Pro"/>
                <a:cs typeface="Times New Roman" panose="02020603050405020304" pitchFamily="18" charset="0"/>
                <a:sym typeface="Arial MT Pro"/>
              </a:rPr>
              <a:t>Tuyền</a:t>
            </a:r>
            <a:endParaRPr lang="en-US" sz="2400" dirty="0">
              <a:solidFill>
                <a:srgbClr val="FFFFFF"/>
              </a:solidFill>
              <a:latin typeface="Times New Roman" panose="02020603050405020304" pitchFamily="18" charset="0"/>
              <a:ea typeface="Arial MT Pro"/>
              <a:cs typeface="Times New Roman" panose="02020603050405020304" pitchFamily="18" charset="0"/>
              <a:sym typeface="Arial MT Pro"/>
            </a:endParaRPr>
          </a:p>
        </p:txBody>
      </p:sp>
      <p:grpSp>
        <p:nvGrpSpPr>
          <p:cNvPr id="3" name="Group 3"/>
          <p:cNvGrpSpPr/>
          <p:nvPr/>
        </p:nvGrpSpPr>
        <p:grpSpPr>
          <a:xfrm>
            <a:off x="1105365" y="7450336"/>
            <a:ext cx="3353748" cy="717442"/>
            <a:chOff x="0" y="0"/>
            <a:chExt cx="1899754" cy="406400"/>
          </a:xfrm>
        </p:grpSpPr>
        <p:sp>
          <p:nvSpPr>
            <p:cNvPr id="4" name="Freeform 4"/>
            <p:cNvSpPr/>
            <p:nvPr/>
          </p:nvSpPr>
          <p:spPr>
            <a:xfrm>
              <a:off x="0" y="0"/>
              <a:ext cx="1899754" cy="406400"/>
            </a:xfrm>
            <a:custGeom>
              <a:avLst/>
              <a:gdLst/>
              <a:ahLst/>
              <a:cxnLst/>
              <a:rect l="l" t="t" r="r" b="b"/>
              <a:pathLst>
                <a:path w="1899754" h="406400">
                  <a:moveTo>
                    <a:pt x="1696554" y="0"/>
                  </a:moveTo>
                  <a:cubicBezTo>
                    <a:pt x="1808778" y="0"/>
                    <a:pt x="1899754" y="90976"/>
                    <a:pt x="1899754" y="203200"/>
                  </a:cubicBezTo>
                  <a:cubicBezTo>
                    <a:pt x="1899754" y="315424"/>
                    <a:pt x="1808778" y="406400"/>
                    <a:pt x="1696554" y="406400"/>
                  </a:cubicBezTo>
                  <a:lnTo>
                    <a:pt x="203200" y="406400"/>
                  </a:lnTo>
                  <a:cubicBezTo>
                    <a:pt x="90976" y="406400"/>
                    <a:pt x="0" y="315424"/>
                    <a:pt x="0" y="203200"/>
                  </a:cubicBezTo>
                  <a:cubicBezTo>
                    <a:pt x="0" y="90976"/>
                    <a:pt x="90976" y="0"/>
                    <a:pt x="203200" y="0"/>
                  </a:cubicBezTo>
                  <a:close/>
                </a:path>
              </a:pathLst>
            </a:custGeom>
            <a:ln w="9525" cap="sq">
              <a:solidFill>
                <a:srgbClr val="FFFFFF"/>
              </a:solidFill>
              <a:prstDash val="solid"/>
              <a:miter/>
            </a:ln>
          </p:spPr>
        </p:sp>
        <p:sp>
          <p:nvSpPr>
            <p:cNvPr id="5" name="TextBox 5"/>
            <p:cNvSpPr txBox="1"/>
            <p:nvPr/>
          </p:nvSpPr>
          <p:spPr>
            <a:xfrm>
              <a:off x="0" y="-38100"/>
              <a:ext cx="1899754" cy="444500"/>
            </a:xfrm>
            <a:prstGeom prst="rect">
              <a:avLst/>
            </a:prstGeom>
          </p:spPr>
          <p:txBody>
            <a:bodyPr lIns="50800" tIns="50800" rIns="50800" bIns="50800" rtlCol="0" anchor="ctr"/>
            <a:lstStyle/>
            <a:p>
              <a:pPr marL="0" lvl="0" indent="0" algn="ctr">
                <a:lnSpc>
                  <a:spcPts val="2659"/>
                </a:lnSpc>
                <a:spcBef>
                  <a:spcPct val="0"/>
                </a:spcBef>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41519"/>
        </a:solidFill>
        <a:effectLst/>
      </p:bgPr>
    </p:bg>
    <p:spTree>
      <p:nvGrpSpPr>
        <p:cNvPr id="1" name=""/>
        <p:cNvGrpSpPr/>
        <p:nvPr/>
      </p:nvGrpSpPr>
      <p:grpSpPr>
        <a:xfrm>
          <a:off x="0" y="0"/>
          <a:ext cx="0" cy="0"/>
          <a:chOff x="0" y="0"/>
          <a:chExt cx="0" cy="0"/>
        </a:xfrm>
      </p:grpSpPr>
      <p:grpSp>
        <p:nvGrpSpPr>
          <p:cNvPr id="10" name="Group 10"/>
          <p:cNvGrpSpPr/>
          <p:nvPr/>
        </p:nvGrpSpPr>
        <p:grpSpPr>
          <a:xfrm>
            <a:off x="989893" y="1547578"/>
            <a:ext cx="8679644" cy="6630631"/>
            <a:chOff x="0" y="0"/>
            <a:chExt cx="2143421" cy="1637421"/>
          </a:xfrm>
        </p:grpSpPr>
        <p:sp>
          <p:nvSpPr>
            <p:cNvPr id="11" name="Freeform 11"/>
            <p:cNvSpPr/>
            <p:nvPr/>
          </p:nvSpPr>
          <p:spPr>
            <a:xfrm>
              <a:off x="0" y="0"/>
              <a:ext cx="2143421" cy="1637421"/>
            </a:xfrm>
            <a:custGeom>
              <a:avLst/>
              <a:gdLst/>
              <a:ahLst/>
              <a:cxnLst/>
              <a:rect l="l" t="t" r="r" b="b"/>
              <a:pathLst>
                <a:path w="2143421" h="1637421">
                  <a:moveTo>
                    <a:pt x="25867" y="0"/>
                  </a:moveTo>
                  <a:lnTo>
                    <a:pt x="2117555" y="0"/>
                  </a:lnTo>
                  <a:cubicBezTo>
                    <a:pt x="2124415" y="0"/>
                    <a:pt x="2130994" y="2725"/>
                    <a:pt x="2135845" y="7576"/>
                  </a:cubicBezTo>
                  <a:cubicBezTo>
                    <a:pt x="2140696" y="12427"/>
                    <a:pt x="2143421" y="19007"/>
                    <a:pt x="2143421" y="25867"/>
                  </a:cubicBezTo>
                  <a:lnTo>
                    <a:pt x="2143421" y="1611554"/>
                  </a:lnTo>
                  <a:cubicBezTo>
                    <a:pt x="2143421" y="1618415"/>
                    <a:pt x="2140696" y="1624994"/>
                    <a:pt x="2135845" y="1629845"/>
                  </a:cubicBezTo>
                  <a:cubicBezTo>
                    <a:pt x="2130994" y="1634696"/>
                    <a:pt x="2124415" y="1637421"/>
                    <a:pt x="2117555" y="1637421"/>
                  </a:cubicBezTo>
                  <a:lnTo>
                    <a:pt x="25867" y="1637421"/>
                  </a:lnTo>
                  <a:cubicBezTo>
                    <a:pt x="19007" y="1637421"/>
                    <a:pt x="12427" y="1634696"/>
                    <a:pt x="7576" y="1629845"/>
                  </a:cubicBezTo>
                  <a:cubicBezTo>
                    <a:pt x="2725" y="1624994"/>
                    <a:pt x="0" y="1618415"/>
                    <a:pt x="0" y="1611554"/>
                  </a:cubicBezTo>
                  <a:lnTo>
                    <a:pt x="0" y="25867"/>
                  </a:lnTo>
                  <a:cubicBezTo>
                    <a:pt x="0" y="19007"/>
                    <a:pt x="2725" y="12427"/>
                    <a:pt x="7576" y="7576"/>
                  </a:cubicBezTo>
                  <a:cubicBezTo>
                    <a:pt x="12427" y="2725"/>
                    <a:pt x="19007" y="0"/>
                    <a:pt x="25867" y="0"/>
                  </a:cubicBezTo>
                  <a:close/>
                </a:path>
              </a:pathLst>
            </a:custGeom>
            <a:blipFill>
              <a:blip r:embed="rId2"/>
              <a:stretch>
                <a:fillRect l="-1184" r="-1184"/>
              </a:stretch>
            </a:blipFill>
          </p:spPr>
        </p:sp>
      </p:grpSp>
      <p:grpSp>
        <p:nvGrpSpPr>
          <p:cNvPr id="12" name="Group 12"/>
          <p:cNvGrpSpPr/>
          <p:nvPr/>
        </p:nvGrpSpPr>
        <p:grpSpPr>
          <a:xfrm>
            <a:off x="2054482" y="4580882"/>
            <a:ext cx="8679644" cy="4327547"/>
            <a:chOff x="0" y="0"/>
            <a:chExt cx="2285997" cy="1139766"/>
          </a:xfrm>
        </p:grpSpPr>
        <p:sp>
          <p:nvSpPr>
            <p:cNvPr id="13" name="Freeform 13"/>
            <p:cNvSpPr/>
            <p:nvPr/>
          </p:nvSpPr>
          <p:spPr>
            <a:xfrm>
              <a:off x="0" y="0"/>
              <a:ext cx="2285997" cy="1139766"/>
            </a:xfrm>
            <a:custGeom>
              <a:avLst/>
              <a:gdLst/>
              <a:ahLst/>
              <a:cxnLst/>
              <a:rect l="l" t="t" r="r" b="b"/>
              <a:pathLst>
                <a:path w="2285997" h="1139766">
                  <a:moveTo>
                    <a:pt x="24975" y="0"/>
                  </a:moveTo>
                  <a:lnTo>
                    <a:pt x="2261022" y="0"/>
                  </a:lnTo>
                  <a:cubicBezTo>
                    <a:pt x="2267646" y="0"/>
                    <a:pt x="2273998" y="2631"/>
                    <a:pt x="2278682" y="7315"/>
                  </a:cubicBezTo>
                  <a:cubicBezTo>
                    <a:pt x="2283366" y="11999"/>
                    <a:pt x="2285997" y="18351"/>
                    <a:pt x="2285997" y="24975"/>
                  </a:cubicBezTo>
                  <a:lnTo>
                    <a:pt x="2285997" y="1114791"/>
                  </a:lnTo>
                  <a:cubicBezTo>
                    <a:pt x="2285997" y="1121414"/>
                    <a:pt x="2283366" y="1127767"/>
                    <a:pt x="2278682" y="1132451"/>
                  </a:cubicBezTo>
                  <a:cubicBezTo>
                    <a:pt x="2273998" y="1137134"/>
                    <a:pt x="2267646" y="1139766"/>
                    <a:pt x="2261022" y="1139766"/>
                  </a:cubicBezTo>
                  <a:lnTo>
                    <a:pt x="24975" y="1139766"/>
                  </a:lnTo>
                  <a:cubicBezTo>
                    <a:pt x="18351" y="1139766"/>
                    <a:pt x="11999" y="1137134"/>
                    <a:pt x="7315" y="1132451"/>
                  </a:cubicBezTo>
                  <a:cubicBezTo>
                    <a:pt x="2631" y="1127767"/>
                    <a:pt x="0" y="1121414"/>
                    <a:pt x="0" y="1114791"/>
                  </a:cubicBezTo>
                  <a:lnTo>
                    <a:pt x="0" y="24975"/>
                  </a:lnTo>
                  <a:cubicBezTo>
                    <a:pt x="0" y="18351"/>
                    <a:pt x="2631" y="11999"/>
                    <a:pt x="7315" y="7315"/>
                  </a:cubicBezTo>
                  <a:cubicBezTo>
                    <a:pt x="11999" y="2631"/>
                    <a:pt x="18351" y="0"/>
                    <a:pt x="24975" y="0"/>
                  </a:cubicBezTo>
                  <a:close/>
                </a:path>
              </a:pathLst>
            </a:custGeom>
            <a:gradFill rotWithShape="1">
              <a:gsLst>
                <a:gs pos="0">
                  <a:srgbClr val="141519">
                    <a:alpha val="0"/>
                  </a:srgbClr>
                </a:gs>
                <a:gs pos="100000">
                  <a:srgbClr val="141519">
                    <a:alpha val="94500"/>
                  </a:srgbClr>
                </a:gs>
              </a:gsLst>
              <a:lin ang="5400000"/>
            </a:gradFill>
          </p:spPr>
        </p:sp>
        <p:sp>
          <p:nvSpPr>
            <p:cNvPr id="14" name="TextBox 14"/>
            <p:cNvSpPr txBox="1"/>
            <p:nvPr/>
          </p:nvSpPr>
          <p:spPr>
            <a:xfrm>
              <a:off x="0" y="19050"/>
              <a:ext cx="2285997" cy="1120716"/>
            </a:xfrm>
            <a:prstGeom prst="rect">
              <a:avLst/>
            </a:prstGeom>
          </p:spPr>
          <p:txBody>
            <a:bodyPr lIns="50800" tIns="50800" rIns="50800" bIns="50800" rtlCol="0" anchor="ctr"/>
            <a:lstStyle/>
            <a:p>
              <a:pPr marL="0" lvl="0" indent="0" algn="ctr">
                <a:lnSpc>
                  <a:spcPts val="1387"/>
                </a:lnSpc>
              </a:pPr>
              <a:endParaRPr/>
            </a:p>
          </p:txBody>
        </p:sp>
      </p:grpSp>
      <p:sp>
        <p:nvSpPr>
          <p:cNvPr id="15" name="TextBox 15"/>
          <p:cNvSpPr txBox="1"/>
          <p:nvPr/>
        </p:nvSpPr>
        <p:spPr>
          <a:xfrm>
            <a:off x="1357646" y="7147589"/>
            <a:ext cx="5794277" cy="765594"/>
          </a:xfrm>
          <a:prstGeom prst="rect">
            <a:avLst/>
          </a:prstGeom>
        </p:spPr>
        <p:txBody>
          <a:bodyPr wrap="square" lIns="0" tIns="0" rIns="0" bIns="0" rtlCol="0" anchor="t">
            <a:spAutoFit/>
          </a:bodyPr>
          <a:lstStyle/>
          <a:p>
            <a:pPr marL="0" lvl="0" indent="0" algn="l">
              <a:lnSpc>
                <a:spcPts val="5913"/>
              </a:lnSpc>
            </a:pPr>
            <a:r>
              <a:rPr lang="en-US" sz="6000" b="1" spc="-238" dirty="0" err="1">
                <a:solidFill>
                  <a:srgbClr val="FFFFFF"/>
                </a:solidFill>
                <a:latin typeface="Times New Roman" panose="02020603050405020304" pitchFamily="18" charset="0"/>
                <a:ea typeface="Arial MT Pro Bold"/>
                <a:cs typeface="Times New Roman" panose="02020603050405020304" pitchFamily="18" charset="0"/>
                <a:sym typeface="Arial MT Pro Bold"/>
              </a:rPr>
              <a:t>Giới</a:t>
            </a:r>
            <a:r>
              <a:rPr lang="en-US" sz="6000" b="1" spc="-238" dirty="0">
                <a:solidFill>
                  <a:srgbClr val="FFFFFF"/>
                </a:solidFill>
                <a:latin typeface="Times New Roman" panose="02020603050405020304" pitchFamily="18" charset="0"/>
                <a:ea typeface="Arial MT Pro Bold"/>
                <a:cs typeface="Times New Roman" panose="02020603050405020304" pitchFamily="18" charset="0"/>
                <a:sym typeface="Arial MT Pro Bold"/>
              </a:rPr>
              <a:t> </a:t>
            </a:r>
            <a:r>
              <a:rPr lang="en-US" sz="6000" b="1" spc="-238" dirty="0" err="1">
                <a:solidFill>
                  <a:srgbClr val="FFFFFF"/>
                </a:solidFill>
                <a:latin typeface="Times New Roman" panose="02020603050405020304" pitchFamily="18" charset="0"/>
                <a:ea typeface="Arial MT Pro Bold"/>
                <a:cs typeface="Times New Roman" panose="02020603050405020304" pitchFamily="18" charset="0"/>
                <a:sym typeface="Arial MT Pro Bold"/>
              </a:rPr>
              <a:t>Thiệu</a:t>
            </a:r>
            <a:r>
              <a:rPr lang="en-US" sz="6000" b="1" spc="-238" dirty="0">
                <a:solidFill>
                  <a:srgbClr val="FFFFFF"/>
                </a:solidFill>
                <a:latin typeface="Times New Roman" panose="02020603050405020304" pitchFamily="18" charset="0"/>
                <a:ea typeface="Arial MT Pro Bold"/>
                <a:cs typeface="Times New Roman" panose="02020603050405020304" pitchFamily="18" charset="0"/>
                <a:sym typeface="Arial MT Pro Bold"/>
              </a:rPr>
              <a:t> </a:t>
            </a:r>
            <a:r>
              <a:rPr lang="en-US" sz="6000" b="1" spc="-238" dirty="0" err="1">
                <a:solidFill>
                  <a:srgbClr val="FFFFFF"/>
                </a:solidFill>
                <a:latin typeface="Times New Roman" panose="02020603050405020304" pitchFamily="18" charset="0"/>
                <a:ea typeface="Arial MT Pro Bold"/>
                <a:cs typeface="Times New Roman" panose="02020603050405020304" pitchFamily="18" charset="0"/>
                <a:sym typeface="Arial MT Pro Bold"/>
              </a:rPr>
              <a:t>Dự</a:t>
            </a:r>
            <a:r>
              <a:rPr lang="en-US" sz="6000" b="1" spc="-238" dirty="0">
                <a:solidFill>
                  <a:srgbClr val="FFFFFF"/>
                </a:solidFill>
                <a:latin typeface="Times New Roman" panose="02020603050405020304" pitchFamily="18" charset="0"/>
                <a:ea typeface="Arial MT Pro Bold"/>
                <a:cs typeface="Times New Roman" panose="02020603050405020304" pitchFamily="18" charset="0"/>
                <a:sym typeface="Arial MT Pro Bold"/>
              </a:rPr>
              <a:t> </a:t>
            </a:r>
            <a:r>
              <a:rPr lang="en-US" sz="6000" b="1" spc="-238" dirty="0" err="1">
                <a:solidFill>
                  <a:srgbClr val="FFFFFF"/>
                </a:solidFill>
                <a:latin typeface="Times New Roman" panose="02020603050405020304" pitchFamily="18" charset="0"/>
                <a:ea typeface="Arial MT Pro Bold"/>
                <a:cs typeface="Times New Roman" panose="02020603050405020304" pitchFamily="18" charset="0"/>
                <a:sym typeface="Arial MT Pro Bold"/>
              </a:rPr>
              <a:t>Án</a:t>
            </a:r>
            <a:endParaRPr lang="en-US" sz="6000" b="1" spc="-238" dirty="0">
              <a:solidFill>
                <a:srgbClr val="FFFFFF"/>
              </a:solidFill>
              <a:latin typeface="Times New Roman" panose="02020603050405020304" pitchFamily="18" charset="0"/>
              <a:ea typeface="Arial MT Pro Bold"/>
              <a:cs typeface="Times New Roman" panose="02020603050405020304" pitchFamily="18" charset="0"/>
              <a:sym typeface="Arial MT Pro Bold"/>
            </a:endParaRPr>
          </a:p>
        </p:txBody>
      </p:sp>
      <p:grpSp>
        <p:nvGrpSpPr>
          <p:cNvPr id="17" name="Group 17"/>
          <p:cNvGrpSpPr/>
          <p:nvPr/>
        </p:nvGrpSpPr>
        <p:grpSpPr>
          <a:xfrm>
            <a:off x="10037290" y="571500"/>
            <a:ext cx="7717310" cy="9296400"/>
            <a:chOff x="0" y="0"/>
            <a:chExt cx="1185649" cy="393849"/>
          </a:xfrm>
        </p:grpSpPr>
        <p:sp>
          <p:nvSpPr>
            <p:cNvPr id="18" name="Freeform 18"/>
            <p:cNvSpPr/>
            <p:nvPr/>
          </p:nvSpPr>
          <p:spPr>
            <a:xfrm>
              <a:off x="0" y="0"/>
              <a:ext cx="1185649" cy="393849"/>
            </a:xfrm>
            <a:custGeom>
              <a:avLst/>
              <a:gdLst/>
              <a:ahLst/>
              <a:cxnLst/>
              <a:rect l="l" t="t" r="r" b="b"/>
              <a:pathLst>
                <a:path w="1185649" h="393849">
                  <a:moveTo>
                    <a:pt x="35771" y="0"/>
                  </a:moveTo>
                  <a:lnTo>
                    <a:pt x="1149878" y="0"/>
                  </a:lnTo>
                  <a:cubicBezTo>
                    <a:pt x="1159365" y="0"/>
                    <a:pt x="1168464" y="3769"/>
                    <a:pt x="1175172" y="10477"/>
                  </a:cubicBezTo>
                  <a:cubicBezTo>
                    <a:pt x="1181880" y="17185"/>
                    <a:pt x="1185649" y="26284"/>
                    <a:pt x="1185649" y="35771"/>
                  </a:cubicBezTo>
                  <a:lnTo>
                    <a:pt x="1185649" y="358079"/>
                  </a:lnTo>
                  <a:cubicBezTo>
                    <a:pt x="1185649" y="367565"/>
                    <a:pt x="1181880" y="376664"/>
                    <a:pt x="1175172" y="383372"/>
                  </a:cubicBezTo>
                  <a:cubicBezTo>
                    <a:pt x="1168464" y="390080"/>
                    <a:pt x="1159365" y="393849"/>
                    <a:pt x="1149878" y="393849"/>
                  </a:cubicBezTo>
                  <a:lnTo>
                    <a:pt x="35771" y="393849"/>
                  </a:lnTo>
                  <a:cubicBezTo>
                    <a:pt x="16015" y="393849"/>
                    <a:pt x="0" y="377834"/>
                    <a:pt x="0" y="358079"/>
                  </a:cubicBezTo>
                  <a:lnTo>
                    <a:pt x="0" y="35771"/>
                  </a:lnTo>
                  <a:cubicBezTo>
                    <a:pt x="0" y="26284"/>
                    <a:pt x="3769" y="17185"/>
                    <a:pt x="10477" y="10477"/>
                  </a:cubicBezTo>
                  <a:cubicBezTo>
                    <a:pt x="17185" y="3769"/>
                    <a:pt x="26284" y="0"/>
                    <a:pt x="35771" y="0"/>
                  </a:cubicBezTo>
                  <a:close/>
                </a:path>
              </a:pathLst>
            </a:custGeom>
            <a:solidFill>
              <a:srgbClr val="202127"/>
            </a:solidFill>
          </p:spPr>
        </p:sp>
        <p:sp>
          <p:nvSpPr>
            <p:cNvPr id="19" name="TextBox 19"/>
            <p:cNvSpPr txBox="1"/>
            <p:nvPr/>
          </p:nvSpPr>
          <p:spPr>
            <a:xfrm>
              <a:off x="0" y="19050"/>
              <a:ext cx="1185649" cy="374799"/>
            </a:xfrm>
            <a:prstGeom prst="rect">
              <a:avLst/>
            </a:prstGeom>
          </p:spPr>
          <p:txBody>
            <a:bodyPr lIns="50800" tIns="50800" rIns="50800" bIns="50800" rtlCol="0" anchor="ctr"/>
            <a:lstStyle/>
            <a:p>
              <a:pPr marL="0" lvl="0" indent="0" algn="ctr">
                <a:lnSpc>
                  <a:spcPts val="1387"/>
                </a:lnSpc>
              </a:pPr>
              <a:endParaRPr/>
            </a:p>
          </p:txBody>
        </p:sp>
      </p:grpSp>
      <p:sp>
        <p:nvSpPr>
          <p:cNvPr id="29" name="TextBox 28">
            <a:extLst>
              <a:ext uri="{FF2B5EF4-FFF2-40B4-BE49-F238E27FC236}">
                <a16:creationId xmlns:a16="http://schemas.microsoft.com/office/drawing/2014/main" id="{98E548B1-C6E9-73D9-34AC-E2405B8A9216}"/>
              </a:ext>
            </a:extLst>
          </p:cNvPr>
          <p:cNvSpPr txBox="1"/>
          <p:nvPr/>
        </p:nvSpPr>
        <p:spPr>
          <a:xfrm>
            <a:off x="10515599" y="1257300"/>
            <a:ext cx="6782507" cy="5970865"/>
          </a:xfrm>
          <a:prstGeom prst="rect">
            <a:avLst/>
          </a:prstGeom>
          <a:noFill/>
        </p:spPr>
        <p:txBody>
          <a:bodyPr wrap="square" rtlCol="0">
            <a:spAutoFit/>
          </a:bodyPr>
          <a:lstStyle/>
          <a:p>
            <a:r>
              <a:rPr lang="en-US" sz="2800" dirty="0">
                <a:solidFill>
                  <a:schemeClr val="bg1"/>
                </a:solidFill>
                <a:latin typeface="Times New Roman" panose="02020603050405020304" pitchFamily="18" charset="0"/>
                <a:cs typeface="Times New Roman" panose="02020603050405020304" pitchFamily="18" charset="0"/>
              </a:rPr>
              <a:t>*Lý do </a:t>
            </a:r>
            <a:r>
              <a:rPr lang="en-US" sz="2800" dirty="0" err="1">
                <a:solidFill>
                  <a:schemeClr val="bg1"/>
                </a:solidFill>
                <a:latin typeface="Times New Roman" panose="02020603050405020304" pitchFamily="18" charset="0"/>
                <a:cs typeface="Times New Roman" panose="02020603050405020304" pitchFamily="18" charset="0"/>
              </a:rPr>
              <a:t>chọn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đề</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tài</a:t>
            </a:r>
            <a:r>
              <a:rPr lang="en-US" sz="2800" dirty="0">
                <a:solidFill>
                  <a:schemeClr val="bg1"/>
                </a:solidFill>
                <a:latin typeface="Times New Roman" panose="02020603050405020304" pitchFamily="18" charset="0"/>
                <a:cs typeface="Times New Roman" panose="02020603050405020304" pitchFamily="18" charset="0"/>
              </a:rPr>
              <a:t>:</a:t>
            </a:r>
          </a:p>
          <a:p>
            <a:pPr algn="just"/>
            <a:r>
              <a:rPr lang="en-US" sz="2800" dirty="0">
                <a:solidFill>
                  <a:schemeClr val="bg1"/>
                </a:solidFill>
                <a:latin typeface="Times New Roman" panose="02020603050405020304" pitchFamily="18" charset="0"/>
                <a:cs typeface="Times New Roman" panose="02020603050405020304" pitchFamily="18" charset="0"/>
              </a:rPr>
              <a:t>	Trong </a:t>
            </a:r>
            <a:r>
              <a:rPr lang="en-US" sz="2800" dirty="0" err="1">
                <a:solidFill>
                  <a:schemeClr val="bg1"/>
                </a:solidFill>
                <a:latin typeface="Times New Roman" panose="02020603050405020304" pitchFamily="18" charset="0"/>
                <a:cs typeface="Times New Roman" panose="02020603050405020304" pitchFamily="18" charset="0"/>
              </a:rPr>
              <a:t>thời</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đại</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công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nghệ</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thông</a:t>
            </a:r>
            <a:r>
              <a:rPr lang="en-US" sz="2800" dirty="0">
                <a:solidFill>
                  <a:schemeClr val="bg1"/>
                </a:solidFill>
                <a:latin typeface="Times New Roman" panose="02020603050405020304" pitchFamily="18" charset="0"/>
                <a:cs typeface="Times New Roman" panose="02020603050405020304" pitchFamily="18" charset="0"/>
              </a:rPr>
              <a:t> tin </a:t>
            </a:r>
            <a:r>
              <a:rPr lang="en-US" sz="2800" dirty="0" err="1">
                <a:solidFill>
                  <a:schemeClr val="bg1"/>
                </a:solidFill>
                <a:latin typeface="Times New Roman" panose="02020603050405020304" pitchFamily="18" charset="0"/>
                <a:cs typeface="Times New Roman" panose="02020603050405020304" pitchFamily="18" charset="0"/>
              </a:rPr>
              <a:t>phát</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triển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vượt</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bậc</a:t>
            </a:r>
            <a:r>
              <a:rPr lang="en-US" sz="2800" dirty="0">
                <a:solidFill>
                  <a:schemeClr val="bg1"/>
                </a:solidFill>
                <a:latin typeface="Times New Roman" panose="02020603050405020304" pitchFamily="18" charset="0"/>
                <a:cs typeface="Times New Roman" panose="02020603050405020304" pitchFamily="18" charset="0"/>
              </a:rPr>
              <a:t>, internet </a:t>
            </a:r>
            <a:r>
              <a:rPr lang="en-US" sz="2800" dirty="0" err="1">
                <a:solidFill>
                  <a:schemeClr val="bg1"/>
                </a:solidFill>
                <a:latin typeface="Times New Roman" panose="02020603050405020304" pitchFamily="18" charset="0"/>
                <a:cs typeface="Times New Roman" panose="02020603050405020304" pitchFamily="18" charset="0"/>
              </a:rPr>
              <a:t>đã</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trở</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thành</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một</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phần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không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thể</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thiếu</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trong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cuộc</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sống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của</a:t>
            </a:r>
            <a:r>
              <a:rPr lang="en-US" sz="2800" dirty="0">
                <a:solidFill>
                  <a:schemeClr val="bg1"/>
                </a:solidFill>
                <a:latin typeface="Times New Roman" panose="02020603050405020304" pitchFamily="18" charset="0"/>
                <a:cs typeface="Times New Roman" panose="02020603050405020304" pitchFamily="18" charset="0"/>
              </a:rPr>
              <a:t> con </a:t>
            </a:r>
            <a:r>
              <a:rPr lang="en-US" sz="2800" dirty="0" err="1">
                <a:solidFill>
                  <a:schemeClr val="bg1"/>
                </a:solidFill>
                <a:latin typeface="Times New Roman" panose="02020603050405020304" pitchFamily="18" charset="0"/>
                <a:cs typeface="Times New Roman" panose="02020603050405020304" pitchFamily="18" charset="0"/>
              </a:rPr>
              <a:t>người</a:t>
            </a:r>
            <a:r>
              <a:rPr lang="en-US" sz="2800" dirty="0">
                <a:solidFill>
                  <a:schemeClr val="bg1"/>
                </a:solidFill>
                <a:latin typeface="Times New Roman" panose="02020603050405020304" pitchFamily="18" charset="0"/>
                <a:cs typeface="Times New Roman" panose="02020603050405020304" pitchFamily="18" charset="0"/>
              </a:rPr>
              <a:t>. Các </a:t>
            </a:r>
            <a:r>
              <a:rPr lang="en-US" sz="2800" dirty="0" err="1">
                <a:solidFill>
                  <a:schemeClr val="bg1"/>
                </a:solidFill>
                <a:latin typeface="Times New Roman" panose="02020603050405020304" pitchFamily="18" charset="0"/>
                <a:cs typeface="Times New Roman" panose="02020603050405020304" pitchFamily="18" charset="0"/>
              </a:rPr>
              <a:t>ứng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dụng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trực</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tuyến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ngày</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càng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đa</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dạng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mang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lại</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sự</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tiện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lợi</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và</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trải</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nghiệm</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tốt</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hơn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cho</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người</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dùng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đặc</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biệt</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là</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trong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lĩnh</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vực</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dịch</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vụ</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ăn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uống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Ngày</a:t>
            </a:r>
            <a:r>
              <a:rPr lang="en-US" sz="2800" dirty="0">
                <a:solidFill>
                  <a:schemeClr val="bg1"/>
                </a:solidFill>
                <a:latin typeface="Times New Roman" panose="02020603050405020304" pitchFamily="18" charset="0"/>
                <a:cs typeface="Times New Roman" panose="02020603050405020304" pitchFamily="18" charset="0"/>
              </a:rPr>
              <a:t> nay, </a:t>
            </a:r>
            <a:r>
              <a:rPr lang="en-US" sz="2800" dirty="0" err="1">
                <a:solidFill>
                  <a:schemeClr val="bg1"/>
                </a:solidFill>
                <a:latin typeface="Times New Roman" panose="02020603050405020304" pitchFamily="18" charset="0"/>
                <a:cs typeface="Times New Roman" panose="02020603050405020304" pitchFamily="18" charset="0"/>
              </a:rPr>
              <a:t>hoạt</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động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kinh</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doanh</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quán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cà</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phê</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không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chỉ</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dừng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lại</a:t>
            </a:r>
            <a:r>
              <a:rPr lang="en-US" sz="2800" dirty="0">
                <a:solidFill>
                  <a:schemeClr val="bg1"/>
                </a:solidFill>
                <a:latin typeface="Times New Roman" panose="02020603050405020304" pitchFamily="18" charset="0"/>
                <a:cs typeface="Times New Roman" panose="02020603050405020304" pitchFamily="18" charset="0"/>
              </a:rPr>
              <a:t> ở </a:t>
            </a:r>
            <a:r>
              <a:rPr lang="en-US" sz="2800" dirty="0" err="1">
                <a:solidFill>
                  <a:schemeClr val="bg1"/>
                </a:solidFill>
                <a:latin typeface="Times New Roman" panose="02020603050405020304" pitchFamily="18" charset="0"/>
                <a:cs typeface="Times New Roman" panose="02020603050405020304" pitchFamily="18" charset="0"/>
              </a:rPr>
              <a:t>phục</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vụ</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đồ</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uống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mà</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còn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đòi</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hỏi</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quản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lý</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chuyên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nghiệp</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từ</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gọi</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món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sắp</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xếp</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bàn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thanh</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toán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đến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kiểm</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soát</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kho</a:t>
            </a:r>
            <a:r>
              <a:rPr lang="en-US" sz="2800" dirty="0">
                <a:solidFill>
                  <a:schemeClr val="bg1"/>
                </a:solidFill>
                <a:latin typeface="Times New Roman" panose="02020603050405020304" pitchFamily="18" charset="0"/>
                <a:cs typeface="Times New Roman" panose="02020603050405020304" pitchFamily="18" charset="0"/>
              </a:rPr>
              <a:t>, ca </a:t>
            </a:r>
            <a:r>
              <a:rPr lang="en-US" sz="2800" dirty="0" err="1">
                <a:solidFill>
                  <a:schemeClr val="bg1"/>
                </a:solidFill>
                <a:latin typeface="Times New Roman" panose="02020603050405020304" pitchFamily="18" charset="0"/>
                <a:cs typeface="Times New Roman" panose="02020603050405020304" pitchFamily="18" charset="0"/>
              </a:rPr>
              <a:t>làm</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và</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chăm</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sóc</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khách</a:t>
            </a:r>
            <a:r>
              <a:rPr lang="en-US" sz="2800" dirty="0">
                <a:solidFill>
                  <a:schemeClr val="bg1"/>
                </a:solidFill>
                <a:latin typeface="Times New Roman" panose="02020603050405020304" pitchFamily="18" charset="0"/>
                <a:cs typeface="Times New Roman" panose="02020603050405020304" pitchFamily="18" charset="0"/>
              </a:rPr>
              <a:t> </a:t>
            </a:r>
          </a:p>
          <a:p>
            <a:pPr algn="just"/>
            <a:r>
              <a:rPr lang="en-US" sz="2800" dirty="0" err="1">
                <a:solidFill>
                  <a:schemeClr val="bg1"/>
                </a:solidFill>
                <a:latin typeface="Times New Roman" panose="02020603050405020304" pitchFamily="18" charset="0"/>
                <a:cs typeface="Times New Roman" panose="02020603050405020304" pitchFamily="18" charset="0"/>
              </a:rPr>
              <a:t>hàng</a:t>
            </a:r>
            <a:r>
              <a:rPr lang="en-US" sz="2800" dirty="0">
                <a:solidFill>
                  <a:schemeClr val="bg1"/>
                </a:solidFill>
                <a:latin typeface="Times New Roman" panose="02020603050405020304" pitchFamily="18" charset="0"/>
                <a:cs typeface="Times New Roman" panose="02020603050405020304" pitchFamily="18" charset="0"/>
              </a:rPr>
              <a:t>.  </a:t>
            </a:r>
          </a:p>
          <a:p>
            <a:endParaRPr lang="en-US"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11215"/>
        </a:solidFill>
        <a:effectLst/>
      </p:bgPr>
    </p:bg>
    <p:spTree>
      <p:nvGrpSpPr>
        <p:cNvPr id="1" name="">
          <a:extLst>
            <a:ext uri="{FF2B5EF4-FFF2-40B4-BE49-F238E27FC236}">
              <a16:creationId xmlns:a16="http://schemas.microsoft.com/office/drawing/2014/main" id="{83B6DD49-10A1-BA3F-5A5B-841C6CCC4E65}"/>
            </a:ext>
          </a:extLst>
        </p:cNvPr>
        <p:cNvGrpSpPr/>
        <p:nvPr/>
      </p:nvGrpSpPr>
      <p:grpSpPr>
        <a:xfrm>
          <a:off x="0" y="0"/>
          <a:ext cx="0" cy="0"/>
          <a:chOff x="0" y="0"/>
          <a:chExt cx="0" cy="0"/>
        </a:xfrm>
      </p:grpSpPr>
      <p:grpSp>
        <p:nvGrpSpPr>
          <p:cNvPr id="10" name="Group 10">
            <a:extLst>
              <a:ext uri="{FF2B5EF4-FFF2-40B4-BE49-F238E27FC236}">
                <a16:creationId xmlns:a16="http://schemas.microsoft.com/office/drawing/2014/main" id="{0B165F0D-0002-3AAA-12D8-D766A9217559}"/>
              </a:ext>
            </a:extLst>
          </p:cNvPr>
          <p:cNvGrpSpPr/>
          <p:nvPr/>
        </p:nvGrpSpPr>
        <p:grpSpPr>
          <a:xfrm>
            <a:off x="989893" y="1547578"/>
            <a:ext cx="8679644" cy="6630631"/>
            <a:chOff x="0" y="0"/>
            <a:chExt cx="2143421" cy="1637421"/>
          </a:xfrm>
        </p:grpSpPr>
        <p:sp>
          <p:nvSpPr>
            <p:cNvPr id="11" name="Freeform 11">
              <a:extLst>
                <a:ext uri="{FF2B5EF4-FFF2-40B4-BE49-F238E27FC236}">
                  <a16:creationId xmlns:a16="http://schemas.microsoft.com/office/drawing/2014/main" id="{480C79D7-F293-A0D1-1DCE-B44A0361B21D}"/>
                </a:ext>
              </a:extLst>
            </p:cNvPr>
            <p:cNvSpPr/>
            <p:nvPr/>
          </p:nvSpPr>
          <p:spPr>
            <a:xfrm>
              <a:off x="0" y="0"/>
              <a:ext cx="2143421" cy="1637421"/>
            </a:xfrm>
            <a:custGeom>
              <a:avLst/>
              <a:gdLst/>
              <a:ahLst/>
              <a:cxnLst/>
              <a:rect l="l" t="t" r="r" b="b"/>
              <a:pathLst>
                <a:path w="2143421" h="1637421">
                  <a:moveTo>
                    <a:pt x="25867" y="0"/>
                  </a:moveTo>
                  <a:lnTo>
                    <a:pt x="2117555" y="0"/>
                  </a:lnTo>
                  <a:cubicBezTo>
                    <a:pt x="2124415" y="0"/>
                    <a:pt x="2130994" y="2725"/>
                    <a:pt x="2135845" y="7576"/>
                  </a:cubicBezTo>
                  <a:cubicBezTo>
                    <a:pt x="2140696" y="12427"/>
                    <a:pt x="2143421" y="19007"/>
                    <a:pt x="2143421" y="25867"/>
                  </a:cubicBezTo>
                  <a:lnTo>
                    <a:pt x="2143421" y="1611554"/>
                  </a:lnTo>
                  <a:cubicBezTo>
                    <a:pt x="2143421" y="1618415"/>
                    <a:pt x="2140696" y="1624994"/>
                    <a:pt x="2135845" y="1629845"/>
                  </a:cubicBezTo>
                  <a:cubicBezTo>
                    <a:pt x="2130994" y="1634696"/>
                    <a:pt x="2124415" y="1637421"/>
                    <a:pt x="2117555" y="1637421"/>
                  </a:cubicBezTo>
                  <a:lnTo>
                    <a:pt x="25867" y="1637421"/>
                  </a:lnTo>
                  <a:cubicBezTo>
                    <a:pt x="19007" y="1637421"/>
                    <a:pt x="12427" y="1634696"/>
                    <a:pt x="7576" y="1629845"/>
                  </a:cubicBezTo>
                  <a:cubicBezTo>
                    <a:pt x="2725" y="1624994"/>
                    <a:pt x="0" y="1618415"/>
                    <a:pt x="0" y="1611554"/>
                  </a:cubicBezTo>
                  <a:lnTo>
                    <a:pt x="0" y="25867"/>
                  </a:lnTo>
                  <a:cubicBezTo>
                    <a:pt x="0" y="19007"/>
                    <a:pt x="2725" y="12427"/>
                    <a:pt x="7576" y="7576"/>
                  </a:cubicBezTo>
                  <a:cubicBezTo>
                    <a:pt x="12427" y="2725"/>
                    <a:pt x="19007" y="0"/>
                    <a:pt x="25867" y="0"/>
                  </a:cubicBezTo>
                  <a:close/>
                </a:path>
              </a:pathLst>
            </a:custGeom>
            <a:blipFill>
              <a:blip r:embed="rId2"/>
              <a:stretch>
                <a:fillRect l="-1184" r="-1184"/>
              </a:stretch>
            </a:blipFill>
          </p:spPr>
        </p:sp>
      </p:grpSp>
      <p:grpSp>
        <p:nvGrpSpPr>
          <p:cNvPr id="12" name="Group 12">
            <a:extLst>
              <a:ext uri="{FF2B5EF4-FFF2-40B4-BE49-F238E27FC236}">
                <a16:creationId xmlns:a16="http://schemas.microsoft.com/office/drawing/2014/main" id="{B3F924DD-B5CE-F6AB-988F-40204C0EE2BB}"/>
              </a:ext>
            </a:extLst>
          </p:cNvPr>
          <p:cNvGrpSpPr/>
          <p:nvPr/>
        </p:nvGrpSpPr>
        <p:grpSpPr>
          <a:xfrm>
            <a:off x="2054482" y="4580882"/>
            <a:ext cx="8679644" cy="4327547"/>
            <a:chOff x="0" y="0"/>
            <a:chExt cx="2285997" cy="1139766"/>
          </a:xfrm>
        </p:grpSpPr>
        <p:sp>
          <p:nvSpPr>
            <p:cNvPr id="13" name="Freeform 13">
              <a:extLst>
                <a:ext uri="{FF2B5EF4-FFF2-40B4-BE49-F238E27FC236}">
                  <a16:creationId xmlns:a16="http://schemas.microsoft.com/office/drawing/2014/main" id="{C1DC84AC-AD72-8DEE-160B-B34C1A983B11}"/>
                </a:ext>
              </a:extLst>
            </p:cNvPr>
            <p:cNvSpPr/>
            <p:nvPr/>
          </p:nvSpPr>
          <p:spPr>
            <a:xfrm>
              <a:off x="0" y="0"/>
              <a:ext cx="2285997" cy="1139766"/>
            </a:xfrm>
            <a:custGeom>
              <a:avLst/>
              <a:gdLst/>
              <a:ahLst/>
              <a:cxnLst/>
              <a:rect l="l" t="t" r="r" b="b"/>
              <a:pathLst>
                <a:path w="2285997" h="1139766">
                  <a:moveTo>
                    <a:pt x="24975" y="0"/>
                  </a:moveTo>
                  <a:lnTo>
                    <a:pt x="2261022" y="0"/>
                  </a:lnTo>
                  <a:cubicBezTo>
                    <a:pt x="2267646" y="0"/>
                    <a:pt x="2273998" y="2631"/>
                    <a:pt x="2278682" y="7315"/>
                  </a:cubicBezTo>
                  <a:cubicBezTo>
                    <a:pt x="2283366" y="11999"/>
                    <a:pt x="2285997" y="18351"/>
                    <a:pt x="2285997" y="24975"/>
                  </a:cubicBezTo>
                  <a:lnTo>
                    <a:pt x="2285997" y="1114791"/>
                  </a:lnTo>
                  <a:cubicBezTo>
                    <a:pt x="2285997" y="1121414"/>
                    <a:pt x="2283366" y="1127767"/>
                    <a:pt x="2278682" y="1132451"/>
                  </a:cubicBezTo>
                  <a:cubicBezTo>
                    <a:pt x="2273998" y="1137134"/>
                    <a:pt x="2267646" y="1139766"/>
                    <a:pt x="2261022" y="1139766"/>
                  </a:cubicBezTo>
                  <a:lnTo>
                    <a:pt x="24975" y="1139766"/>
                  </a:lnTo>
                  <a:cubicBezTo>
                    <a:pt x="18351" y="1139766"/>
                    <a:pt x="11999" y="1137134"/>
                    <a:pt x="7315" y="1132451"/>
                  </a:cubicBezTo>
                  <a:cubicBezTo>
                    <a:pt x="2631" y="1127767"/>
                    <a:pt x="0" y="1121414"/>
                    <a:pt x="0" y="1114791"/>
                  </a:cubicBezTo>
                  <a:lnTo>
                    <a:pt x="0" y="24975"/>
                  </a:lnTo>
                  <a:cubicBezTo>
                    <a:pt x="0" y="18351"/>
                    <a:pt x="2631" y="11999"/>
                    <a:pt x="7315" y="7315"/>
                  </a:cubicBezTo>
                  <a:cubicBezTo>
                    <a:pt x="11999" y="2631"/>
                    <a:pt x="18351" y="0"/>
                    <a:pt x="24975" y="0"/>
                  </a:cubicBezTo>
                  <a:close/>
                </a:path>
              </a:pathLst>
            </a:custGeom>
            <a:gradFill rotWithShape="1">
              <a:gsLst>
                <a:gs pos="0">
                  <a:srgbClr val="141519">
                    <a:alpha val="0"/>
                  </a:srgbClr>
                </a:gs>
                <a:gs pos="100000">
                  <a:srgbClr val="141519">
                    <a:alpha val="94500"/>
                  </a:srgbClr>
                </a:gs>
              </a:gsLst>
              <a:lin ang="5400000"/>
            </a:gradFill>
          </p:spPr>
        </p:sp>
        <p:sp>
          <p:nvSpPr>
            <p:cNvPr id="14" name="TextBox 14">
              <a:extLst>
                <a:ext uri="{FF2B5EF4-FFF2-40B4-BE49-F238E27FC236}">
                  <a16:creationId xmlns:a16="http://schemas.microsoft.com/office/drawing/2014/main" id="{F2BF5DC6-C362-7961-07A7-B4F605AF4DFF}"/>
                </a:ext>
              </a:extLst>
            </p:cNvPr>
            <p:cNvSpPr txBox="1"/>
            <p:nvPr/>
          </p:nvSpPr>
          <p:spPr>
            <a:xfrm>
              <a:off x="0" y="19050"/>
              <a:ext cx="2285997" cy="1120716"/>
            </a:xfrm>
            <a:prstGeom prst="rect">
              <a:avLst/>
            </a:prstGeom>
          </p:spPr>
          <p:txBody>
            <a:bodyPr lIns="50800" tIns="50800" rIns="50800" bIns="50800" rtlCol="0" anchor="ctr"/>
            <a:lstStyle/>
            <a:p>
              <a:pPr marL="0" lvl="0" indent="0" algn="ctr">
                <a:lnSpc>
                  <a:spcPts val="1387"/>
                </a:lnSpc>
              </a:pPr>
              <a:endParaRPr/>
            </a:p>
          </p:txBody>
        </p:sp>
      </p:grpSp>
      <p:sp>
        <p:nvSpPr>
          <p:cNvPr id="15" name="TextBox 15">
            <a:extLst>
              <a:ext uri="{FF2B5EF4-FFF2-40B4-BE49-F238E27FC236}">
                <a16:creationId xmlns:a16="http://schemas.microsoft.com/office/drawing/2014/main" id="{39612526-7990-5459-1C54-27A53B2DB4B5}"/>
              </a:ext>
            </a:extLst>
          </p:cNvPr>
          <p:cNvSpPr txBox="1"/>
          <p:nvPr/>
        </p:nvSpPr>
        <p:spPr>
          <a:xfrm>
            <a:off x="1357646" y="7147589"/>
            <a:ext cx="5794277" cy="765594"/>
          </a:xfrm>
          <a:prstGeom prst="rect">
            <a:avLst/>
          </a:prstGeom>
        </p:spPr>
        <p:txBody>
          <a:bodyPr wrap="square" lIns="0" tIns="0" rIns="0" bIns="0" rtlCol="0" anchor="t">
            <a:spAutoFit/>
          </a:bodyPr>
          <a:lstStyle/>
          <a:p>
            <a:pPr marL="0" lvl="0" indent="0" algn="l">
              <a:lnSpc>
                <a:spcPts val="5913"/>
              </a:lnSpc>
            </a:pPr>
            <a:r>
              <a:rPr lang="en-US" sz="6000" b="1" spc="-238" dirty="0" err="1">
                <a:solidFill>
                  <a:srgbClr val="FFFFFF"/>
                </a:solidFill>
                <a:latin typeface="Times New Roman" panose="02020603050405020304" pitchFamily="18" charset="0"/>
                <a:ea typeface="Arial MT Pro Bold"/>
                <a:cs typeface="Times New Roman" panose="02020603050405020304" pitchFamily="18" charset="0"/>
                <a:sym typeface="Arial MT Pro Bold"/>
              </a:rPr>
              <a:t>Giới</a:t>
            </a:r>
            <a:r>
              <a:rPr lang="en-US" sz="6000" b="1" spc="-238" dirty="0">
                <a:solidFill>
                  <a:srgbClr val="FFFFFF"/>
                </a:solidFill>
                <a:latin typeface="Times New Roman" panose="02020603050405020304" pitchFamily="18" charset="0"/>
                <a:ea typeface="Arial MT Pro Bold"/>
                <a:cs typeface="Times New Roman" panose="02020603050405020304" pitchFamily="18" charset="0"/>
                <a:sym typeface="Arial MT Pro Bold"/>
              </a:rPr>
              <a:t> </a:t>
            </a:r>
            <a:r>
              <a:rPr lang="en-US" sz="6000" b="1" spc="-238" dirty="0" err="1">
                <a:solidFill>
                  <a:srgbClr val="FFFFFF"/>
                </a:solidFill>
                <a:latin typeface="Times New Roman" panose="02020603050405020304" pitchFamily="18" charset="0"/>
                <a:ea typeface="Arial MT Pro Bold"/>
                <a:cs typeface="Times New Roman" panose="02020603050405020304" pitchFamily="18" charset="0"/>
                <a:sym typeface="Arial MT Pro Bold"/>
              </a:rPr>
              <a:t>Thiệu</a:t>
            </a:r>
            <a:r>
              <a:rPr lang="en-US" sz="6000" b="1" spc="-238" dirty="0">
                <a:solidFill>
                  <a:srgbClr val="FFFFFF"/>
                </a:solidFill>
                <a:latin typeface="Times New Roman" panose="02020603050405020304" pitchFamily="18" charset="0"/>
                <a:ea typeface="Arial MT Pro Bold"/>
                <a:cs typeface="Times New Roman" panose="02020603050405020304" pitchFamily="18" charset="0"/>
                <a:sym typeface="Arial MT Pro Bold"/>
              </a:rPr>
              <a:t> </a:t>
            </a:r>
            <a:r>
              <a:rPr lang="en-US" sz="6000" b="1" spc="-238" dirty="0" err="1">
                <a:solidFill>
                  <a:srgbClr val="FFFFFF"/>
                </a:solidFill>
                <a:latin typeface="Times New Roman" panose="02020603050405020304" pitchFamily="18" charset="0"/>
                <a:ea typeface="Arial MT Pro Bold"/>
                <a:cs typeface="Times New Roman" panose="02020603050405020304" pitchFamily="18" charset="0"/>
                <a:sym typeface="Arial MT Pro Bold"/>
              </a:rPr>
              <a:t>Dự</a:t>
            </a:r>
            <a:r>
              <a:rPr lang="en-US" sz="6000" b="1" spc="-238" dirty="0">
                <a:solidFill>
                  <a:srgbClr val="FFFFFF"/>
                </a:solidFill>
                <a:latin typeface="Times New Roman" panose="02020603050405020304" pitchFamily="18" charset="0"/>
                <a:ea typeface="Arial MT Pro Bold"/>
                <a:cs typeface="Times New Roman" panose="02020603050405020304" pitchFamily="18" charset="0"/>
                <a:sym typeface="Arial MT Pro Bold"/>
              </a:rPr>
              <a:t> </a:t>
            </a:r>
            <a:r>
              <a:rPr lang="en-US" sz="6000" b="1" spc="-238" dirty="0" err="1">
                <a:solidFill>
                  <a:srgbClr val="FFFFFF"/>
                </a:solidFill>
                <a:latin typeface="Times New Roman" panose="02020603050405020304" pitchFamily="18" charset="0"/>
                <a:ea typeface="Arial MT Pro Bold"/>
                <a:cs typeface="Times New Roman" panose="02020603050405020304" pitchFamily="18" charset="0"/>
                <a:sym typeface="Arial MT Pro Bold"/>
              </a:rPr>
              <a:t>Án</a:t>
            </a:r>
            <a:endParaRPr lang="en-US" sz="6000" b="1" spc="-238" dirty="0">
              <a:solidFill>
                <a:srgbClr val="FFFFFF"/>
              </a:solidFill>
              <a:latin typeface="Times New Roman" panose="02020603050405020304" pitchFamily="18" charset="0"/>
              <a:ea typeface="Arial MT Pro Bold"/>
              <a:cs typeface="Times New Roman" panose="02020603050405020304" pitchFamily="18" charset="0"/>
              <a:sym typeface="Arial MT Pro Bold"/>
            </a:endParaRPr>
          </a:p>
        </p:txBody>
      </p:sp>
      <p:grpSp>
        <p:nvGrpSpPr>
          <p:cNvPr id="17" name="Group 17">
            <a:extLst>
              <a:ext uri="{FF2B5EF4-FFF2-40B4-BE49-F238E27FC236}">
                <a16:creationId xmlns:a16="http://schemas.microsoft.com/office/drawing/2014/main" id="{2FAF349B-BA33-4FF0-3C94-6139FAD0F225}"/>
              </a:ext>
            </a:extLst>
          </p:cNvPr>
          <p:cNvGrpSpPr/>
          <p:nvPr/>
        </p:nvGrpSpPr>
        <p:grpSpPr>
          <a:xfrm>
            <a:off x="10037290" y="571500"/>
            <a:ext cx="7717310" cy="9296400"/>
            <a:chOff x="0" y="0"/>
            <a:chExt cx="1185649" cy="393849"/>
          </a:xfrm>
        </p:grpSpPr>
        <p:sp>
          <p:nvSpPr>
            <p:cNvPr id="18" name="Freeform 18">
              <a:extLst>
                <a:ext uri="{FF2B5EF4-FFF2-40B4-BE49-F238E27FC236}">
                  <a16:creationId xmlns:a16="http://schemas.microsoft.com/office/drawing/2014/main" id="{AFFFAD50-9FAD-F52F-B5E5-3AF3DA4B4014}"/>
                </a:ext>
              </a:extLst>
            </p:cNvPr>
            <p:cNvSpPr/>
            <p:nvPr/>
          </p:nvSpPr>
          <p:spPr>
            <a:xfrm>
              <a:off x="0" y="0"/>
              <a:ext cx="1185649" cy="393849"/>
            </a:xfrm>
            <a:custGeom>
              <a:avLst/>
              <a:gdLst/>
              <a:ahLst/>
              <a:cxnLst/>
              <a:rect l="l" t="t" r="r" b="b"/>
              <a:pathLst>
                <a:path w="1185649" h="393849">
                  <a:moveTo>
                    <a:pt x="35771" y="0"/>
                  </a:moveTo>
                  <a:lnTo>
                    <a:pt x="1149878" y="0"/>
                  </a:lnTo>
                  <a:cubicBezTo>
                    <a:pt x="1159365" y="0"/>
                    <a:pt x="1168464" y="3769"/>
                    <a:pt x="1175172" y="10477"/>
                  </a:cubicBezTo>
                  <a:cubicBezTo>
                    <a:pt x="1181880" y="17185"/>
                    <a:pt x="1185649" y="26284"/>
                    <a:pt x="1185649" y="35771"/>
                  </a:cubicBezTo>
                  <a:lnTo>
                    <a:pt x="1185649" y="358079"/>
                  </a:lnTo>
                  <a:cubicBezTo>
                    <a:pt x="1185649" y="367565"/>
                    <a:pt x="1181880" y="376664"/>
                    <a:pt x="1175172" y="383372"/>
                  </a:cubicBezTo>
                  <a:cubicBezTo>
                    <a:pt x="1168464" y="390080"/>
                    <a:pt x="1159365" y="393849"/>
                    <a:pt x="1149878" y="393849"/>
                  </a:cubicBezTo>
                  <a:lnTo>
                    <a:pt x="35771" y="393849"/>
                  </a:lnTo>
                  <a:cubicBezTo>
                    <a:pt x="16015" y="393849"/>
                    <a:pt x="0" y="377834"/>
                    <a:pt x="0" y="358079"/>
                  </a:cubicBezTo>
                  <a:lnTo>
                    <a:pt x="0" y="35771"/>
                  </a:lnTo>
                  <a:cubicBezTo>
                    <a:pt x="0" y="26284"/>
                    <a:pt x="3769" y="17185"/>
                    <a:pt x="10477" y="10477"/>
                  </a:cubicBezTo>
                  <a:cubicBezTo>
                    <a:pt x="17185" y="3769"/>
                    <a:pt x="26284" y="0"/>
                    <a:pt x="35771" y="0"/>
                  </a:cubicBezTo>
                  <a:close/>
                </a:path>
              </a:pathLst>
            </a:custGeom>
            <a:solidFill>
              <a:srgbClr val="202127"/>
            </a:solidFill>
          </p:spPr>
        </p:sp>
        <p:sp>
          <p:nvSpPr>
            <p:cNvPr id="19" name="TextBox 19">
              <a:extLst>
                <a:ext uri="{FF2B5EF4-FFF2-40B4-BE49-F238E27FC236}">
                  <a16:creationId xmlns:a16="http://schemas.microsoft.com/office/drawing/2014/main" id="{5E06C403-4853-E254-7444-0EAA36B393F7}"/>
                </a:ext>
              </a:extLst>
            </p:cNvPr>
            <p:cNvSpPr txBox="1"/>
            <p:nvPr/>
          </p:nvSpPr>
          <p:spPr>
            <a:xfrm>
              <a:off x="0" y="19050"/>
              <a:ext cx="1185649" cy="374799"/>
            </a:xfrm>
            <a:prstGeom prst="rect">
              <a:avLst/>
            </a:prstGeom>
          </p:spPr>
          <p:txBody>
            <a:bodyPr lIns="50800" tIns="50800" rIns="50800" bIns="50800" rtlCol="0" anchor="ctr"/>
            <a:lstStyle/>
            <a:p>
              <a:pPr marL="0" lvl="0" indent="0" algn="ctr">
                <a:lnSpc>
                  <a:spcPts val="1387"/>
                </a:lnSpc>
              </a:pPr>
              <a:endParaRPr/>
            </a:p>
          </p:txBody>
        </p:sp>
      </p:grpSp>
      <p:sp>
        <p:nvSpPr>
          <p:cNvPr id="29" name="TextBox 28">
            <a:extLst>
              <a:ext uri="{FF2B5EF4-FFF2-40B4-BE49-F238E27FC236}">
                <a16:creationId xmlns:a16="http://schemas.microsoft.com/office/drawing/2014/main" id="{2EA0C8C2-3B77-5166-7F0F-4818D5EB75C9}"/>
              </a:ext>
            </a:extLst>
          </p:cNvPr>
          <p:cNvSpPr txBox="1"/>
          <p:nvPr/>
        </p:nvSpPr>
        <p:spPr>
          <a:xfrm>
            <a:off x="10515599" y="1257300"/>
            <a:ext cx="6782507" cy="5970865"/>
          </a:xfrm>
          <a:prstGeom prst="rect">
            <a:avLst/>
          </a:prstGeom>
          <a:noFill/>
        </p:spPr>
        <p:txBody>
          <a:bodyPr wrap="square" rtlCol="0">
            <a:spAutoFit/>
          </a:bodyPr>
          <a:lstStyle/>
          <a:p>
            <a:r>
              <a:rPr lang="en-US" sz="2800" dirty="0">
                <a:solidFill>
                  <a:schemeClr val="bg1"/>
                </a:solidFill>
                <a:latin typeface="Times New Roman" panose="02020603050405020304" pitchFamily="18" charset="0"/>
                <a:cs typeface="Times New Roman" panose="02020603050405020304" pitchFamily="18" charset="0"/>
              </a:rPr>
              <a:t>*Lý do </a:t>
            </a:r>
            <a:r>
              <a:rPr lang="en-US" sz="2800" dirty="0" err="1">
                <a:solidFill>
                  <a:schemeClr val="bg1"/>
                </a:solidFill>
                <a:latin typeface="Times New Roman" panose="02020603050405020304" pitchFamily="18" charset="0"/>
                <a:cs typeface="Times New Roman" panose="02020603050405020304" pitchFamily="18" charset="0"/>
              </a:rPr>
              <a:t>chọn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đề</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tài</a:t>
            </a:r>
            <a:r>
              <a:rPr lang="en-US" sz="2800" dirty="0">
                <a:solidFill>
                  <a:schemeClr val="bg1"/>
                </a:solidFill>
                <a:latin typeface="Times New Roman" panose="02020603050405020304" pitchFamily="18" charset="0"/>
                <a:cs typeface="Times New Roman" panose="02020603050405020304" pitchFamily="18" charset="0"/>
              </a:rPr>
              <a:t>:</a:t>
            </a:r>
          </a:p>
          <a:p>
            <a:pPr algn="just"/>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Nắm</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bắt</a:t>
            </a:r>
            <a:r>
              <a:rPr lang="en-US" sz="2800" dirty="0">
                <a:solidFill>
                  <a:schemeClr val="bg1"/>
                </a:solidFill>
                <a:latin typeface="Times New Roman" panose="02020603050405020304" pitchFamily="18" charset="0"/>
                <a:cs typeface="Times New Roman" panose="02020603050405020304" pitchFamily="18" charset="0"/>
              </a:rPr>
              <a:t> xu </a:t>
            </a:r>
            <a:r>
              <a:rPr lang="en-US" sz="2800" dirty="0" err="1">
                <a:solidFill>
                  <a:schemeClr val="bg1"/>
                </a:solidFill>
                <a:latin typeface="Times New Roman" panose="02020603050405020304" pitchFamily="18" charset="0"/>
                <a:cs typeface="Times New Roman" panose="02020603050405020304" pitchFamily="18" charset="0"/>
              </a:rPr>
              <a:t>hướng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đó</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nhóm</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quyết</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định</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lựa</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chọn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đề</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tài</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Thiết</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kế</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hệ</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thống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quản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lý</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quán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cà</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phê</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với</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mong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muốn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xây</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dựng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một</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nền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tảng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thân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thiện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dễ</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sử</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dụng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hỗ</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trợ</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chủ</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quán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và</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nhân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viên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vận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hành</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hiệu</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quả</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Hệ</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thống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sẽ</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cho</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phép</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quản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lý</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thực</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đơn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một</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cách</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linh</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hoạt</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tiếp</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nhận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và</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xử</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lý</a:t>
            </a:r>
            <a:r>
              <a:rPr lang="en-US" sz="2800" dirty="0">
                <a:solidFill>
                  <a:schemeClr val="bg1"/>
                </a:solidFill>
                <a:latin typeface="Times New Roman" panose="02020603050405020304" pitchFamily="18" charset="0"/>
                <a:cs typeface="Times New Roman" panose="02020603050405020304" pitchFamily="18" charset="0"/>
              </a:rPr>
              <a:t> order </a:t>
            </a:r>
            <a:r>
              <a:rPr lang="en-US" sz="2800" dirty="0" err="1">
                <a:solidFill>
                  <a:schemeClr val="bg1"/>
                </a:solidFill>
                <a:latin typeface="Times New Roman" panose="02020603050405020304" pitchFamily="18" charset="0"/>
                <a:cs typeface="Times New Roman" panose="02020603050405020304" pitchFamily="18" charset="0"/>
              </a:rPr>
              <a:t>nhanh</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chóng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theo</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dõi</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tình</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trạng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bàn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theo</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thời</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gian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thực</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đồng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bộ</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hóa</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thanh</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toán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cũng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như</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quản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lý</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kho</a:t>
            </a:r>
            <a:r>
              <a:rPr lang="en-US" sz="2800" dirty="0">
                <a:solidFill>
                  <a:schemeClr val="bg1"/>
                </a:solidFill>
                <a:latin typeface="Times New Roman" panose="02020603050405020304" pitchFamily="18" charset="0"/>
                <a:cs typeface="Times New Roman" panose="02020603050405020304" pitchFamily="18" charset="0"/>
              </a:rPr>
              <a:t> – </a:t>
            </a:r>
            <a:r>
              <a:rPr lang="en-US" sz="2800" dirty="0" err="1">
                <a:solidFill>
                  <a:schemeClr val="bg1"/>
                </a:solidFill>
                <a:latin typeface="Times New Roman" panose="02020603050405020304" pitchFamily="18" charset="0"/>
                <a:cs typeface="Times New Roman" panose="02020603050405020304" pitchFamily="18" charset="0"/>
              </a:rPr>
              <a:t>nguyên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vật</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liệu</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chặt</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chẽ</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để</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giảm</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thất</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thoát</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Giúp</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nâng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cao</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trải</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nghiệm</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của</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thực</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khách</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và</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tăng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doanh</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thu</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cho</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quán</a:t>
            </a:r>
            <a:r>
              <a:rPr lang="en-US" sz="2800" dirty="0">
                <a:solidFill>
                  <a:schemeClr val="bg1"/>
                </a:solidFill>
                <a:latin typeface="Times New Roman" panose="02020603050405020304" pitchFamily="18" charset="0"/>
                <a:cs typeface="Times New Roman" panose="02020603050405020304" pitchFamily="18" charset="0"/>
              </a:rPr>
              <a:t>. </a:t>
            </a:r>
          </a:p>
          <a:p>
            <a:endParaRPr lang="en-US"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4753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21317"/>
        </a:solidFill>
        <a:effectLst/>
      </p:bgPr>
    </p:bg>
    <p:spTree>
      <p:nvGrpSpPr>
        <p:cNvPr id="1" name="">
          <a:extLst>
            <a:ext uri="{FF2B5EF4-FFF2-40B4-BE49-F238E27FC236}">
              <a16:creationId xmlns:a16="http://schemas.microsoft.com/office/drawing/2014/main" id="{602C7CBE-A9B1-3ADB-1802-F2BD73214A92}"/>
            </a:ext>
          </a:extLst>
        </p:cNvPr>
        <p:cNvGrpSpPr/>
        <p:nvPr/>
      </p:nvGrpSpPr>
      <p:grpSpPr>
        <a:xfrm>
          <a:off x="0" y="0"/>
          <a:ext cx="0" cy="0"/>
          <a:chOff x="0" y="0"/>
          <a:chExt cx="0" cy="0"/>
        </a:xfrm>
      </p:grpSpPr>
      <p:grpSp>
        <p:nvGrpSpPr>
          <p:cNvPr id="10" name="Group 10">
            <a:extLst>
              <a:ext uri="{FF2B5EF4-FFF2-40B4-BE49-F238E27FC236}">
                <a16:creationId xmlns:a16="http://schemas.microsoft.com/office/drawing/2014/main" id="{12038AC0-B448-6EB4-1A49-A92BE5D19BDF}"/>
              </a:ext>
            </a:extLst>
          </p:cNvPr>
          <p:cNvGrpSpPr/>
          <p:nvPr/>
        </p:nvGrpSpPr>
        <p:grpSpPr>
          <a:xfrm>
            <a:off x="989893" y="1547578"/>
            <a:ext cx="8679644" cy="6630631"/>
            <a:chOff x="0" y="0"/>
            <a:chExt cx="2143421" cy="1637421"/>
          </a:xfrm>
        </p:grpSpPr>
        <p:sp>
          <p:nvSpPr>
            <p:cNvPr id="11" name="Freeform 11">
              <a:extLst>
                <a:ext uri="{FF2B5EF4-FFF2-40B4-BE49-F238E27FC236}">
                  <a16:creationId xmlns:a16="http://schemas.microsoft.com/office/drawing/2014/main" id="{E3009D4C-BF24-0814-B845-BB93089A7BF7}"/>
                </a:ext>
              </a:extLst>
            </p:cNvPr>
            <p:cNvSpPr/>
            <p:nvPr/>
          </p:nvSpPr>
          <p:spPr>
            <a:xfrm>
              <a:off x="0" y="0"/>
              <a:ext cx="2143421" cy="1637421"/>
            </a:xfrm>
            <a:custGeom>
              <a:avLst/>
              <a:gdLst/>
              <a:ahLst/>
              <a:cxnLst/>
              <a:rect l="l" t="t" r="r" b="b"/>
              <a:pathLst>
                <a:path w="2143421" h="1637421">
                  <a:moveTo>
                    <a:pt x="25867" y="0"/>
                  </a:moveTo>
                  <a:lnTo>
                    <a:pt x="2117555" y="0"/>
                  </a:lnTo>
                  <a:cubicBezTo>
                    <a:pt x="2124415" y="0"/>
                    <a:pt x="2130994" y="2725"/>
                    <a:pt x="2135845" y="7576"/>
                  </a:cubicBezTo>
                  <a:cubicBezTo>
                    <a:pt x="2140696" y="12427"/>
                    <a:pt x="2143421" y="19007"/>
                    <a:pt x="2143421" y="25867"/>
                  </a:cubicBezTo>
                  <a:lnTo>
                    <a:pt x="2143421" y="1611554"/>
                  </a:lnTo>
                  <a:cubicBezTo>
                    <a:pt x="2143421" y="1618415"/>
                    <a:pt x="2140696" y="1624994"/>
                    <a:pt x="2135845" y="1629845"/>
                  </a:cubicBezTo>
                  <a:cubicBezTo>
                    <a:pt x="2130994" y="1634696"/>
                    <a:pt x="2124415" y="1637421"/>
                    <a:pt x="2117555" y="1637421"/>
                  </a:cubicBezTo>
                  <a:lnTo>
                    <a:pt x="25867" y="1637421"/>
                  </a:lnTo>
                  <a:cubicBezTo>
                    <a:pt x="19007" y="1637421"/>
                    <a:pt x="12427" y="1634696"/>
                    <a:pt x="7576" y="1629845"/>
                  </a:cubicBezTo>
                  <a:cubicBezTo>
                    <a:pt x="2725" y="1624994"/>
                    <a:pt x="0" y="1618415"/>
                    <a:pt x="0" y="1611554"/>
                  </a:cubicBezTo>
                  <a:lnTo>
                    <a:pt x="0" y="25867"/>
                  </a:lnTo>
                  <a:cubicBezTo>
                    <a:pt x="0" y="19007"/>
                    <a:pt x="2725" y="12427"/>
                    <a:pt x="7576" y="7576"/>
                  </a:cubicBezTo>
                  <a:cubicBezTo>
                    <a:pt x="12427" y="2725"/>
                    <a:pt x="19007" y="0"/>
                    <a:pt x="25867" y="0"/>
                  </a:cubicBezTo>
                  <a:close/>
                </a:path>
              </a:pathLst>
            </a:custGeom>
            <a:blipFill>
              <a:blip r:embed="rId2"/>
              <a:stretch>
                <a:fillRect l="-1184" r="-1184"/>
              </a:stretch>
            </a:blipFill>
          </p:spPr>
        </p:sp>
      </p:grpSp>
      <p:grpSp>
        <p:nvGrpSpPr>
          <p:cNvPr id="12" name="Group 12">
            <a:extLst>
              <a:ext uri="{FF2B5EF4-FFF2-40B4-BE49-F238E27FC236}">
                <a16:creationId xmlns:a16="http://schemas.microsoft.com/office/drawing/2014/main" id="{8BF5DAFE-B26D-0F63-0482-2B7993CEF98E}"/>
              </a:ext>
            </a:extLst>
          </p:cNvPr>
          <p:cNvGrpSpPr/>
          <p:nvPr/>
        </p:nvGrpSpPr>
        <p:grpSpPr>
          <a:xfrm>
            <a:off x="2054482" y="4580882"/>
            <a:ext cx="8679644" cy="4327547"/>
            <a:chOff x="0" y="0"/>
            <a:chExt cx="2285997" cy="1139766"/>
          </a:xfrm>
        </p:grpSpPr>
        <p:sp>
          <p:nvSpPr>
            <p:cNvPr id="13" name="Freeform 13">
              <a:extLst>
                <a:ext uri="{FF2B5EF4-FFF2-40B4-BE49-F238E27FC236}">
                  <a16:creationId xmlns:a16="http://schemas.microsoft.com/office/drawing/2014/main" id="{C68C8E0A-9966-1563-2AC4-BA5D55C5E9AB}"/>
                </a:ext>
              </a:extLst>
            </p:cNvPr>
            <p:cNvSpPr/>
            <p:nvPr/>
          </p:nvSpPr>
          <p:spPr>
            <a:xfrm>
              <a:off x="0" y="0"/>
              <a:ext cx="2285997" cy="1139766"/>
            </a:xfrm>
            <a:custGeom>
              <a:avLst/>
              <a:gdLst/>
              <a:ahLst/>
              <a:cxnLst/>
              <a:rect l="l" t="t" r="r" b="b"/>
              <a:pathLst>
                <a:path w="2285997" h="1139766">
                  <a:moveTo>
                    <a:pt x="24975" y="0"/>
                  </a:moveTo>
                  <a:lnTo>
                    <a:pt x="2261022" y="0"/>
                  </a:lnTo>
                  <a:cubicBezTo>
                    <a:pt x="2267646" y="0"/>
                    <a:pt x="2273998" y="2631"/>
                    <a:pt x="2278682" y="7315"/>
                  </a:cubicBezTo>
                  <a:cubicBezTo>
                    <a:pt x="2283366" y="11999"/>
                    <a:pt x="2285997" y="18351"/>
                    <a:pt x="2285997" y="24975"/>
                  </a:cubicBezTo>
                  <a:lnTo>
                    <a:pt x="2285997" y="1114791"/>
                  </a:lnTo>
                  <a:cubicBezTo>
                    <a:pt x="2285997" y="1121414"/>
                    <a:pt x="2283366" y="1127767"/>
                    <a:pt x="2278682" y="1132451"/>
                  </a:cubicBezTo>
                  <a:cubicBezTo>
                    <a:pt x="2273998" y="1137134"/>
                    <a:pt x="2267646" y="1139766"/>
                    <a:pt x="2261022" y="1139766"/>
                  </a:cubicBezTo>
                  <a:lnTo>
                    <a:pt x="24975" y="1139766"/>
                  </a:lnTo>
                  <a:cubicBezTo>
                    <a:pt x="18351" y="1139766"/>
                    <a:pt x="11999" y="1137134"/>
                    <a:pt x="7315" y="1132451"/>
                  </a:cubicBezTo>
                  <a:cubicBezTo>
                    <a:pt x="2631" y="1127767"/>
                    <a:pt x="0" y="1121414"/>
                    <a:pt x="0" y="1114791"/>
                  </a:cubicBezTo>
                  <a:lnTo>
                    <a:pt x="0" y="24975"/>
                  </a:lnTo>
                  <a:cubicBezTo>
                    <a:pt x="0" y="18351"/>
                    <a:pt x="2631" y="11999"/>
                    <a:pt x="7315" y="7315"/>
                  </a:cubicBezTo>
                  <a:cubicBezTo>
                    <a:pt x="11999" y="2631"/>
                    <a:pt x="18351" y="0"/>
                    <a:pt x="24975" y="0"/>
                  </a:cubicBezTo>
                  <a:close/>
                </a:path>
              </a:pathLst>
            </a:custGeom>
            <a:gradFill rotWithShape="1">
              <a:gsLst>
                <a:gs pos="0">
                  <a:srgbClr val="141519">
                    <a:alpha val="0"/>
                  </a:srgbClr>
                </a:gs>
                <a:gs pos="100000">
                  <a:srgbClr val="141519">
                    <a:alpha val="94500"/>
                  </a:srgbClr>
                </a:gs>
              </a:gsLst>
              <a:lin ang="5400000"/>
            </a:gradFill>
          </p:spPr>
        </p:sp>
        <p:sp>
          <p:nvSpPr>
            <p:cNvPr id="14" name="TextBox 14">
              <a:extLst>
                <a:ext uri="{FF2B5EF4-FFF2-40B4-BE49-F238E27FC236}">
                  <a16:creationId xmlns:a16="http://schemas.microsoft.com/office/drawing/2014/main" id="{D4820BCF-AF13-1B26-FFD6-94D8F3699A22}"/>
                </a:ext>
              </a:extLst>
            </p:cNvPr>
            <p:cNvSpPr txBox="1"/>
            <p:nvPr/>
          </p:nvSpPr>
          <p:spPr>
            <a:xfrm>
              <a:off x="0" y="19050"/>
              <a:ext cx="2285997" cy="1120716"/>
            </a:xfrm>
            <a:prstGeom prst="rect">
              <a:avLst/>
            </a:prstGeom>
          </p:spPr>
          <p:txBody>
            <a:bodyPr lIns="50800" tIns="50800" rIns="50800" bIns="50800" rtlCol="0" anchor="ctr"/>
            <a:lstStyle/>
            <a:p>
              <a:pPr marL="0" lvl="0" indent="0" algn="ctr">
                <a:lnSpc>
                  <a:spcPts val="1387"/>
                </a:lnSpc>
              </a:pPr>
              <a:endParaRPr/>
            </a:p>
          </p:txBody>
        </p:sp>
      </p:grpSp>
      <p:sp>
        <p:nvSpPr>
          <p:cNvPr id="15" name="TextBox 15">
            <a:extLst>
              <a:ext uri="{FF2B5EF4-FFF2-40B4-BE49-F238E27FC236}">
                <a16:creationId xmlns:a16="http://schemas.microsoft.com/office/drawing/2014/main" id="{F3B5E8CC-8F7A-FBD7-E12D-721AF2B6D59E}"/>
              </a:ext>
            </a:extLst>
          </p:cNvPr>
          <p:cNvSpPr txBox="1"/>
          <p:nvPr/>
        </p:nvSpPr>
        <p:spPr>
          <a:xfrm>
            <a:off x="1357646" y="7147589"/>
            <a:ext cx="5794277" cy="765594"/>
          </a:xfrm>
          <a:prstGeom prst="rect">
            <a:avLst/>
          </a:prstGeom>
        </p:spPr>
        <p:txBody>
          <a:bodyPr wrap="square" lIns="0" tIns="0" rIns="0" bIns="0" rtlCol="0" anchor="t">
            <a:spAutoFit/>
          </a:bodyPr>
          <a:lstStyle/>
          <a:p>
            <a:pPr marL="0" lvl="0" indent="0" algn="l">
              <a:lnSpc>
                <a:spcPts val="5913"/>
              </a:lnSpc>
            </a:pPr>
            <a:r>
              <a:rPr lang="en-US" sz="6000" b="1" spc="-238" dirty="0" err="1">
                <a:solidFill>
                  <a:srgbClr val="FFFFFF"/>
                </a:solidFill>
                <a:latin typeface="Times New Roman" panose="02020603050405020304" pitchFamily="18" charset="0"/>
                <a:ea typeface="Arial MT Pro Bold"/>
                <a:cs typeface="Times New Roman" panose="02020603050405020304" pitchFamily="18" charset="0"/>
                <a:sym typeface="Arial MT Pro Bold"/>
              </a:rPr>
              <a:t>Giới</a:t>
            </a:r>
            <a:r>
              <a:rPr lang="en-US" sz="6000" b="1" spc="-238" dirty="0">
                <a:solidFill>
                  <a:srgbClr val="FFFFFF"/>
                </a:solidFill>
                <a:latin typeface="Times New Roman" panose="02020603050405020304" pitchFamily="18" charset="0"/>
                <a:ea typeface="Arial MT Pro Bold"/>
                <a:cs typeface="Times New Roman" panose="02020603050405020304" pitchFamily="18" charset="0"/>
                <a:sym typeface="Arial MT Pro Bold"/>
              </a:rPr>
              <a:t> </a:t>
            </a:r>
            <a:r>
              <a:rPr lang="en-US" sz="6000" b="1" spc="-238" dirty="0" err="1">
                <a:solidFill>
                  <a:srgbClr val="FFFFFF"/>
                </a:solidFill>
                <a:latin typeface="Times New Roman" panose="02020603050405020304" pitchFamily="18" charset="0"/>
                <a:ea typeface="Arial MT Pro Bold"/>
                <a:cs typeface="Times New Roman" panose="02020603050405020304" pitchFamily="18" charset="0"/>
                <a:sym typeface="Arial MT Pro Bold"/>
              </a:rPr>
              <a:t>Thiệu</a:t>
            </a:r>
            <a:r>
              <a:rPr lang="en-US" sz="6000" b="1" spc="-238" dirty="0">
                <a:solidFill>
                  <a:srgbClr val="FFFFFF"/>
                </a:solidFill>
                <a:latin typeface="Times New Roman" panose="02020603050405020304" pitchFamily="18" charset="0"/>
                <a:ea typeface="Arial MT Pro Bold"/>
                <a:cs typeface="Times New Roman" panose="02020603050405020304" pitchFamily="18" charset="0"/>
                <a:sym typeface="Arial MT Pro Bold"/>
              </a:rPr>
              <a:t> </a:t>
            </a:r>
            <a:r>
              <a:rPr lang="en-US" sz="6000" b="1" spc="-238" dirty="0" err="1">
                <a:solidFill>
                  <a:srgbClr val="FFFFFF"/>
                </a:solidFill>
                <a:latin typeface="Times New Roman" panose="02020603050405020304" pitchFamily="18" charset="0"/>
                <a:ea typeface="Arial MT Pro Bold"/>
                <a:cs typeface="Times New Roman" panose="02020603050405020304" pitchFamily="18" charset="0"/>
                <a:sym typeface="Arial MT Pro Bold"/>
              </a:rPr>
              <a:t>Dự</a:t>
            </a:r>
            <a:r>
              <a:rPr lang="en-US" sz="6000" b="1" spc="-238" dirty="0">
                <a:solidFill>
                  <a:srgbClr val="FFFFFF"/>
                </a:solidFill>
                <a:latin typeface="Times New Roman" panose="02020603050405020304" pitchFamily="18" charset="0"/>
                <a:ea typeface="Arial MT Pro Bold"/>
                <a:cs typeface="Times New Roman" panose="02020603050405020304" pitchFamily="18" charset="0"/>
                <a:sym typeface="Arial MT Pro Bold"/>
              </a:rPr>
              <a:t> </a:t>
            </a:r>
            <a:r>
              <a:rPr lang="en-US" sz="6000" b="1" spc="-238" dirty="0" err="1">
                <a:solidFill>
                  <a:srgbClr val="FFFFFF"/>
                </a:solidFill>
                <a:latin typeface="Times New Roman" panose="02020603050405020304" pitchFamily="18" charset="0"/>
                <a:ea typeface="Arial MT Pro Bold"/>
                <a:cs typeface="Times New Roman" panose="02020603050405020304" pitchFamily="18" charset="0"/>
                <a:sym typeface="Arial MT Pro Bold"/>
              </a:rPr>
              <a:t>Án</a:t>
            </a:r>
            <a:endParaRPr lang="en-US" sz="6000" b="1" spc="-238" dirty="0">
              <a:solidFill>
                <a:srgbClr val="FFFFFF"/>
              </a:solidFill>
              <a:latin typeface="Times New Roman" panose="02020603050405020304" pitchFamily="18" charset="0"/>
              <a:ea typeface="Arial MT Pro Bold"/>
              <a:cs typeface="Times New Roman" panose="02020603050405020304" pitchFamily="18" charset="0"/>
              <a:sym typeface="Arial MT Pro Bold"/>
            </a:endParaRPr>
          </a:p>
        </p:txBody>
      </p:sp>
      <p:grpSp>
        <p:nvGrpSpPr>
          <p:cNvPr id="17" name="Group 17">
            <a:extLst>
              <a:ext uri="{FF2B5EF4-FFF2-40B4-BE49-F238E27FC236}">
                <a16:creationId xmlns:a16="http://schemas.microsoft.com/office/drawing/2014/main" id="{222A054E-5031-77F5-5D95-4696A106C5BA}"/>
              </a:ext>
            </a:extLst>
          </p:cNvPr>
          <p:cNvGrpSpPr/>
          <p:nvPr/>
        </p:nvGrpSpPr>
        <p:grpSpPr>
          <a:xfrm>
            <a:off x="10037290" y="571500"/>
            <a:ext cx="7717310" cy="9296400"/>
            <a:chOff x="0" y="0"/>
            <a:chExt cx="1185649" cy="393849"/>
          </a:xfrm>
        </p:grpSpPr>
        <p:sp>
          <p:nvSpPr>
            <p:cNvPr id="18" name="Freeform 18">
              <a:extLst>
                <a:ext uri="{FF2B5EF4-FFF2-40B4-BE49-F238E27FC236}">
                  <a16:creationId xmlns:a16="http://schemas.microsoft.com/office/drawing/2014/main" id="{C4363814-8A25-BB4F-6DC6-18532C871B32}"/>
                </a:ext>
              </a:extLst>
            </p:cNvPr>
            <p:cNvSpPr/>
            <p:nvPr/>
          </p:nvSpPr>
          <p:spPr>
            <a:xfrm>
              <a:off x="0" y="0"/>
              <a:ext cx="1185649" cy="393849"/>
            </a:xfrm>
            <a:custGeom>
              <a:avLst/>
              <a:gdLst/>
              <a:ahLst/>
              <a:cxnLst/>
              <a:rect l="l" t="t" r="r" b="b"/>
              <a:pathLst>
                <a:path w="1185649" h="393849">
                  <a:moveTo>
                    <a:pt x="35771" y="0"/>
                  </a:moveTo>
                  <a:lnTo>
                    <a:pt x="1149878" y="0"/>
                  </a:lnTo>
                  <a:cubicBezTo>
                    <a:pt x="1159365" y="0"/>
                    <a:pt x="1168464" y="3769"/>
                    <a:pt x="1175172" y="10477"/>
                  </a:cubicBezTo>
                  <a:cubicBezTo>
                    <a:pt x="1181880" y="17185"/>
                    <a:pt x="1185649" y="26284"/>
                    <a:pt x="1185649" y="35771"/>
                  </a:cubicBezTo>
                  <a:lnTo>
                    <a:pt x="1185649" y="358079"/>
                  </a:lnTo>
                  <a:cubicBezTo>
                    <a:pt x="1185649" y="367565"/>
                    <a:pt x="1181880" y="376664"/>
                    <a:pt x="1175172" y="383372"/>
                  </a:cubicBezTo>
                  <a:cubicBezTo>
                    <a:pt x="1168464" y="390080"/>
                    <a:pt x="1159365" y="393849"/>
                    <a:pt x="1149878" y="393849"/>
                  </a:cubicBezTo>
                  <a:lnTo>
                    <a:pt x="35771" y="393849"/>
                  </a:lnTo>
                  <a:cubicBezTo>
                    <a:pt x="16015" y="393849"/>
                    <a:pt x="0" y="377834"/>
                    <a:pt x="0" y="358079"/>
                  </a:cubicBezTo>
                  <a:lnTo>
                    <a:pt x="0" y="35771"/>
                  </a:lnTo>
                  <a:cubicBezTo>
                    <a:pt x="0" y="26284"/>
                    <a:pt x="3769" y="17185"/>
                    <a:pt x="10477" y="10477"/>
                  </a:cubicBezTo>
                  <a:cubicBezTo>
                    <a:pt x="17185" y="3769"/>
                    <a:pt x="26284" y="0"/>
                    <a:pt x="35771" y="0"/>
                  </a:cubicBezTo>
                  <a:close/>
                </a:path>
              </a:pathLst>
            </a:custGeom>
            <a:solidFill>
              <a:srgbClr val="202127"/>
            </a:solidFill>
          </p:spPr>
        </p:sp>
        <p:sp>
          <p:nvSpPr>
            <p:cNvPr id="19" name="TextBox 19">
              <a:extLst>
                <a:ext uri="{FF2B5EF4-FFF2-40B4-BE49-F238E27FC236}">
                  <a16:creationId xmlns:a16="http://schemas.microsoft.com/office/drawing/2014/main" id="{CAE03282-4CA2-5660-7E84-B2496452515D}"/>
                </a:ext>
              </a:extLst>
            </p:cNvPr>
            <p:cNvSpPr txBox="1"/>
            <p:nvPr/>
          </p:nvSpPr>
          <p:spPr>
            <a:xfrm>
              <a:off x="0" y="19050"/>
              <a:ext cx="1185649" cy="374799"/>
            </a:xfrm>
            <a:prstGeom prst="rect">
              <a:avLst/>
            </a:prstGeom>
          </p:spPr>
          <p:txBody>
            <a:bodyPr lIns="50800" tIns="50800" rIns="50800" bIns="50800" rtlCol="0" anchor="ctr"/>
            <a:lstStyle/>
            <a:p>
              <a:pPr marL="0" lvl="0" indent="0" algn="ctr">
                <a:lnSpc>
                  <a:spcPts val="1387"/>
                </a:lnSpc>
              </a:pPr>
              <a:endParaRPr/>
            </a:p>
          </p:txBody>
        </p:sp>
      </p:grpSp>
      <p:sp>
        <p:nvSpPr>
          <p:cNvPr id="29" name="TextBox 28">
            <a:extLst>
              <a:ext uri="{FF2B5EF4-FFF2-40B4-BE49-F238E27FC236}">
                <a16:creationId xmlns:a16="http://schemas.microsoft.com/office/drawing/2014/main" id="{F35AC331-A10E-0A05-E81E-52937C26F8E0}"/>
              </a:ext>
            </a:extLst>
          </p:cNvPr>
          <p:cNvSpPr txBox="1"/>
          <p:nvPr/>
        </p:nvSpPr>
        <p:spPr>
          <a:xfrm>
            <a:off x="10515599" y="1257300"/>
            <a:ext cx="6782507" cy="6124754"/>
          </a:xfrm>
          <a:prstGeom prst="rect">
            <a:avLst/>
          </a:prstGeom>
          <a:noFill/>
        </p:spPr>
        <p:txBody>
          <a:bodyPr wrap="square" rtlCol="0">
            <a:spAutoFit/>
          </a:bodyPr>
          <a:lstStyle/>
          <a:p>
            <a:r>
              <a:rPr lang="en-US" sz="2800" dirty="0">
                <a:solidFill>
                  <a:schemeClr val="bg1"/>
                </a:solidFill>
                <a:latin typeface="Times New Roman" panose="02020603050405020304" pitchFamily="18" charset="0"/>
                <a:cs typeface="Times New Roman" panose="02020603050405020304" pitchFamily="18" charset="0"/>
              </a:rPr>
              <a:t>*Lý do </a:t>
            </a:r>
            <a:r>
              <a:rPr lang="en-US" sz="2800" dirty="0" err="1">
                <a:solidFill>
                  <a:schemeClr val="bg1"/>
                </a:solidFill>
                <a:latin typeface="Times New Roman" panose="02020603050405020304" pitchFamily="18" charset="0"/>
                <a:cs typeface="Times New Roman" panose="02020603050405020304" pitchFamily="18" charset="0"/>
              </a:rPr>
              <a:t>chọn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đề</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tài</a:t>
            </a:r>
            <a:r>
              <a:rPr lang="en-US" sz="2800" dirty="0">
                <a:solidFill>
                  <a:schemeClr val="bg1"/>
                </a:solidFill>
                <a:latin typeface="Times New Roman" panose="02020603050405020304" pitchFamily="18" charset="0"/>
                <a:cs typeface="Times New Roman" panose="02020603050405020304" pitchFamily="18" charset="0"/>
              </a:rPr>
              <a:t>:</a:t>
            </a:r>
          </a:p>
          <a:p>
            <a:pPr algn="just"/>
            <a:r>
              <a:rPr lang="en-US" sz="2800" dirty="0">
                <a:solidFill>
                  <a:schemeClr val="bg1"/>
                </a:solidFill>
                <a:latin typeface="Times New Roman" panose="02020603050405020304" pitchFamily="18" charset="0"/>
                <a:cs typeface="Times New Roman" panose="02020603050405020304" pitchFamily="18" charset="0"/>
              </a:rPr>
              <a:t>	</a:t>
            </a:r>
            <a:r>
              <a:rPr lang="vi-VN" sz="2800" dirty="0">
                <a:solidFill>
                  <a:schemeClr val="bg1"/>
                </a:solidFill>
                <a:latin typeface="Times New Roman" panose="02020603050405020304" pitchFamily="18" charset="0"/>
                <a:cs typeface="Times New Roman" panose="02020603050405020304" pitchFamily="18" charset="0"/>
              </a:rPr>
              <a:t>Việc xây dựng hệ thống quản lý quán</a:t>
            </a:r>
            <a:r>
              <a:rPr lang="en-US" sz="2800" dirty="0">
                <a:solidFill>
                  <a:schemeClr val="bg1"/>
                </a:solidFill>
                <a:latin typeface="Times New Roman" panose="02020603050405020304" pitchFamily="18" charset="0"/>
                <a:cs typeface="Times New Roman" panose="02020603050405020304" pitchFamily="18" charset="0"/>
              </a:rPr>
              <a:t> </a:t>
            </a:r>
            <a:r>
              <a:rPr lang="vi-VN" sz="2800" dirty="0">
                <a:solidFill>
                  <a:schemeClr val="bg1"/>
                </a:solidFill>
                <a:latin typeface="Times New Roman" panose="02020603050405020304" pitchFamily="18" charset="0"/>
                <a:cs typeface="Times New Roman" panose="02020603050405020304" pitchFamily="18" charset="0"/>
              </a:rPr>
              <a:t>cà phê này không chỉ nhằm đáp ứng </a:t>
            </a:r>
            <a:r>
              <a:rPr lang="en-US" sz="2800" dirty="0">
                <a:solidFill>
                  <a:schemeClr val="bg1"/>
                </a:solidFill>
                <a:latin typeface="Times New Roman" panose="02020603050405020304" pitchFamily="18" charset="0"/>
                <a:cs typeface="Times New Roman" panose="02020603050405020304" pitchFamily="18" charset="0"/>
              </a:rPr>
              <a:t> </a:t>
            </a:r>
            <a:r>
              <a:rPr lang="vi-VN" sz="2800" dirty="0">
                <a:solidFill>
                  <a:schemeClr val="bg1"/>
                </a:solidFill>
                <a:latin typeface="Times New Roman" panose="02020603050405020304" pitchFamily="18" charset="0"/>
                <a:cs typeface="Times New Roman" panose="02020603050405020304" pitchFamily="18" charset="0"/>
              </a:rPr>
              <a:t>nhu cầu vận hành hiện đại của chủ quán mà còn mở ra cơ hội phát triển bền vững cho thương hiệu. Thông qua nền tảng này, nhà quản lý có thể theo dõi số liệu bán hàng tức thời, tối ưu tồn kho, phân bổ nhân sự hợp lý; đồng thời khách hàng cũng có cơ hội tiếp cận menu, ưu đãi và dịch vụ nhanh hơn, thuận tiện hơn. Hệ thống </a:t>
            </a:r>
          </a:p>
          <a:p>
            <a:pPr algn="just"/>
            <a:r>
              <a:rPr lang="vi-VN" sz="2800" dirty="0">
                <a:solidFill>
                  <a:schemeClr val="bg1"/>
                </a:solidFill>
                <a:latin typeface="Times New Roman" panose="02020603050405020304" pitchFamily="18" charset="0"/>
                <a:cs typeface="Times New Roman" panose="02020603050405020304" pitchFamily="18" charset="0"/>
              </a:rPr>
              <a:t>được kỳ vọng trở thành công cụ hỗ trợ ra quyết định dựa trên dữ liệu, góp phần nâng cao chất lượng phục vụ và trải nghiệm tại quán</a:t>
            </a:r>
          </a:p>
        </p:txBody>
      </p:sp>
    </p:spTree>
    <p:extLst>
      <p:ext uri="{BB962C8B-B14F-4D97-AF65-F5344CB8AC3E}">
        <p14:creationId xmlns:p14="http://schemas.microsoft.com/office/powerpoint/2010/main" val="138929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1235334" y="0"/>
            <a:ext cx="9457763" cy="10287000"/>
            <a:chOff x="0" y="0"/>
            <a:chExt cx="2490933" cy="2709333"/>
          </a:xfrm>
        </p:grpSpPr>
        <p:sp>
          <p:nvSpPr>
            <p:cNvPr id="4" name="Freeform 4"/>
            <p:cNvSpPr/>
            <p:nvPr/>
          </p:nvSpPr>
          <p:spPr>
            <a:xfrm>
              <a:off x="0" y="0"/>
              <a:ext cx="2490933" cy="2709333"/>
            </a:xfrm>
            <a:custGeom>
              <a:avLst/>
              <a:gdLst/>
              <a:ahLst/>
              <a:cxnLst/>
              <a:rect l="l" t="t" r="r" b="b"/>
              <a:pathLst>
                <a:path w="2490933" h="2709333">
                  <a:moveTo>
                    <a:pt x="0" y="0"/>
                  </a:moveTo>
                  <a:lnTo>
                    <a:pt x="2490933" y="0"/>
                  </a:lnTo>
                  <a:lnTo>
                    <a:pt x="2490933" y="2709333"/>
                  </a:lnTo>
                  <a:lnTo>
                    <a:pt x="0" y="2709333"/>
                  </a:lnTo>
                  <a:close/>
                </a:path>
              </a:pathLst>
            </a:custGeom>
            <a:gradFill rotWithShape="1">
              <a:gsLst>
                <a:gs pos="0">
                  <a:srgbClr val="141519">
                    <a:alpha val="100000"/>
                  </a:srgbClr>
                </a:gs>
                <a:gs pos="100000">
                  <a:srgbClr val="141519">
                    <a:alpha val="0"/>
                  </a:srgbClr>
                </a:gs>
              </a:gsLst>
              <a:lin ang="0"/>
            </a:gradFill>
          </p:spPr>
        </p:sp>
        <p:sp>
          <p:nvSpPr>
            <p:cNvPr id="5" name="TextBox 5"/>
            <p:cNvSpPr txBox="1"/>
            <p:nvPr/>
          </p:nvSpPr>
          <p:spPr>
            <a:xfrm>
              <a:off x="0" y="19050"/>
              <a:ext cx="2490933" cy="2690283"/>
            </a:xfrm>
            <a:prstGeom prst="rect">
              <a:avLst/>
            </a:prstGeom>
          </p:spPr>
          <p:txBody>
            <a:bodyPr lIns="50800" tIns="50800" rIns="50800" bIns="50800" rtlCol="0" anchor="ctr"/>
            <a:lstStyle/>
            <a:p>
              <a:pPr marL="0" lvl="0" indent="0" algn="ctr">
                <a:lnSpc>
                  <a:spcPts val="1387"/>
                </a:lnSpc>
              </a:pPr>
              <a:endParaRPr/>
            </a:p>
          </p:txBody>
        </p:sp>
      </p:grpSp>
      <p:sp>
        <p:nvSpPr>
          <p:cNvPr id="14" name="TextBox 14"/>
          <p:cNvSpPr txBox="1"/>
          <p:nvPr/>
        </p:nvSpPr>
        <p:spPr>
          <a:xfrm>
            <a:off x="2054482" y="2894776"/>
            <a:ext cx="10313407" cy="2184478"/>
          </a:xfrm>
          <a:prstGeom prst="rect">
            <a:avLst/>
          </a:prstGeom>
        </p:spPr>
        <p:txBody>
          <a:bodyPr lIns="0" tIns="0" rIns="0" bIns="0" rtlCol="0" anchor="t">
            <a:spAutoFit/>
          </a:bodyPr>
          <a:lstStyle/>
          <a:p>
            <a:pPr marL="0" lvl="0" indent="0" algn="l">
              <a:lnSpc>
                <a:spcPts val="7775"/>
              </a:lnSpc>
            </a:pPr>
            <a:r>
              <a:rPr lang="en-US" sz="8015" b="1" spc="-128" dirty="0" err="1">
                <a:solidFill>
                  <a:srgbClr val="FFFFFF"/>
                </a:solidFill>
                <a:latin typeface="Arial MT Pro Bold"/>
                <a:ea typeface="Arial MT Pro Bold"/>
                <a:cs typeface="Arial MT Pro Bold"/>
                <a:sym typeface="Arial MT Pro Bold"/>
              </a:rPr>
              <a:t>Tổng</a:t>
            </a:r>
            <a:r>
              <a:rPr lang="en-US" sz="8015" b="1" spc="-128" dirty="0">
                <a:solidFill>
                  <a:srgbClr val="FFFFFF"/>
                </a:solidFill>
                <a:latin typeface="Arial MT Pro Bold"/>
                <a:ea typeface="Arial MT Pro Bold"/>
                <a:cs typeface="Arial MT Pro Bold"/>
                <a:sym typeface="Arial MT Pro Bold"/>
              </a:rPr>
              <a:t> Quan </a:t>
            </a:r>
            <a:r>
              <a:rPr lang="en-US" sz="8015" b="1" spc="-128" dirty="0" err="1">
                <a:solidFill>
                  <a:srgbClr val="FFFFFF"/>
                </a:solidFill>
                <a:latin typeface="Arial MT Pro Bold"/>
                <a:ea typeface="Arial MT Pro Bold"/>
                <a:cs typeface="Arial MT Pro Bold"/>
                <a:sym typeface="Arial MT Pro Bold"/>
              </a:rPr>
              <a:t>Hệ</a:t>
            </a:r>
            <a:r>
              <a:rPr lang="en-US" sz="8015" b="1" spc="-128" dirty="0">
                <a:solidFill>
                  <a:srgbClr val="FFFFFF"/>
                </a:solidFill>
                <a:latin typeface="Arial MT Pro Bold"/>
                <a:ea typeface="Arial MT Pro Bold"/>
                <a:cs typeface="Arial MT Pro Bold"/>
                <a:sym typeface="Arial MT Pro Bold"/>
              </a:rPr>
              <a:t> </a:t>
            </a:r>
            <a:r>
              <a:rPr lang="en-US" sz="8015" b="1" spc="-128" dirty="0" err="1">
                <a:solidFill>
                  <a:srgbClr val="FFFFFF"/>
                </a:solidFill>
                <a:latin typeface="Arial MT Pro Bold"/>
                <a:ea typeface="Arial MT Pro Bold"/>
                <a:cs typeface="Arial MT Pro Bold"/>
                <a:sym typeface="Arial MT Pro Bold"/>
              </a:rPr>
              <a:t>Thống</a:t>
            </a:r>
            <a:r>
              <a:rPr lang="en-US" sz="8015" b="1" spc="-128" dirty="0">
                <a:solidFill>
                  <a:srgbClr val="FFFFFF"/>
                </a:solidFill>
                <a:latin typeface="Arial MT Pro Bold"/>
                <a:ea typeface="Arial MT Pro Bold"/>
                <a:cs typeface="Arial MT Pro Bold"/>
                <a:sym typeface="Arial MT Pro Bold"/>
              </a:rPr>
              <a:t> Quản Lý Coffee</a:t>
            </a:r>
          </a:p>
        </p:txBody>
      </p:sp>
      <p:grpSp>
        <p:nvGrpSpPr>
          <p:cNvPr id="16" name="Group 16"/>
          <p:cNvGrpSpPr/>
          <p:nvPr/>
        </p:nvGrpSpPr>
        <p:grpSpPr>
          <a:xfrm rot="-4011154">
            <a:off x="12755358" y="3032614"/>
            <a:ext cx="17403374" cy="15009081"/>
            <a:chOff x="0" y="0"/>
            <a:chExt cx="4583605" cy="3953009"/>
          </a:xfrm>
        </p:grpSpPr>
        <p:sp>
          <p:nvSpPr>
            <p:cNvPr id="17" name="Freeform 17"/>
            <p:cNvSpPr/>
            <p:nvPr/>
          </p:nvSpPr>
          <p:spPr>
            <a:xfrm>
              <a:off x="0" y="0"/>
              <a:ext cx="4583605" cy="3953009"/>
            </a:xfrm>
            <a:custGeom>
              <a:avLst/>
              <a:gdLst/>
              <a:ahLst/>
              <a:cxnLst/>
              <a:rect l="l" t="t" r="r" b="b"/>
              <a:pathLst>
                <a:path w="4583605" h="3953009">
                  <a:moveTo>
                    <a:pt x="0" y="0"/>
                  </a:moveTo>
                  <a:lnTo>
                    <a:pt x="4583605" y="0"/>
                  </a:lnTo>
                  <a:lnTo>
                    <a:pt x="4583605" y="3953009"/>
                  </a:lnTo>
                  <a:lnTo>
                    <a:pt x="0" y="3953009"/>
                  </a:lnTo>
                  <a:close/>
                </a:path>
              </a:pathLst>
            </a:custGeom>
            <a:gradFill rotWithShape="1">
              <a:gsLst>
                <a:gs pos="0">
                  <a:srgbClr val="27DDDF">
                    <a:alpha val="0"/>
                  </a:srgbClr>
                </a:gs>
                <a:gs pos="100000">
                  <a:srgbClr val="27DDDF">
                    <a:alpha val="100000"/>
                  </a:srgbClr>
                </a:gs>
              </a:gsLst>
              <a:lin ang="5400000"/>
            </a:gradFill>
          </p:spPr>
        </p:sp>
        <p:sp>
          <p:nvSpPr>
            <p:cNvPr id="18" name="TextBox 18"/>
            <p:cNvSpPr txBox="1"/>
            <p:nvPr/>
          </p:nvSpPr>
          <p:spPr>
            <a:xfrm>
              <a:off x="0" y="19050"/>
              <a:ext cx="4583605" cy="3933959"/>
            </a:xfrm>
            <a:prstGeom prst="rect">
              <a:avLst/>
            </a:prstGeom>
          </p:spPr>
          <p:txBody>
            <a:bodyPr lIns="50800" tIns="50800" rIns="50800" bIns="50800" rtlCol="0" anchor="ctr"/>
            <a:lstStyle/>
            <a:p>
              <a:pPr marL="0" lvl="0" indent="0" algn="ctr">
                <a:lnSpc>
                  <a:spcPts val="1387"/>
                </a:lnSpc>
              </a:pPr>
              <a:endParaRPr/>
            </a:p>
          </p:txBody>
        </p:sp>
      </p:grpSp>
      <p:sp>
        <p:nvSpPr>
          <p:cNvPr id="19" name="TextBox 18">
            <a:extLst>
              <a:ext uri="{FF2B5EF4-FFF2-40B4-BE49-F238E27FC236}">
                <a16:creationId xmlns:a16="http://schemas.microsoft.com/office/drawing/2014/main" id="{FB4F8711-6AF1-E958-0211-36B47BF6C5C5}"/>
              </a:ext>
            </a:extLst>
          </p:cNvPr>
          <p:cNvSpPr txBox="1"/>
          <p:nvPr/>
        </p:nvSpPr>
        <p:spPr>
          <a:xfrm>
            <a:off x="2286000" y="7048500"/>
            <a:ext cx="14480918" cy="2246769"/>
          </a:xfrm>
          <a:prstGeom prst="rect">
            <a:avLst/>
          </a:prstGeom>
          <a:noFill/>
        </p:spPr>
        <p:txBody>
          <a:bodyPr wrap="square" rtlCol="0">
            <a:spAutoFit/>
          </a:bodyPr>
          <a:lstStyle/>
          <a:p>
            <a:r>
              <a:rPr lang="vi-VN" sz="2800" dirty="0">
                <a:solidFill>
                  <a:schemeClr val="bg1"/>
                </a:solidFill>
                <a:latin typeface="+mj-lt"/>
              </a:rPr>
              <a:t>Hệ thống web được xây dựng nhằm cung cấp giao diện quản lý toàn diện cho quán coffee. Bao gồm các module chính: Quản lý Menu (thêm, sửa, xóa món), Hệ thống Order (ghi nhận và xử lý đơn hàng), Quản lý Nhân viên, Quản lý Kho (theo dõi nguyên liệu, tồn kho), và Báo cáo Thống kê doanh thu. Giao diện chính (index.php) đóng vai trò bảng điều khiển trung tâm, liên kết tất cả các chức năng trong hệ thống.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41519"/>
        </a:solidFill>
        <a:effectLst/>
      </p:bgPr>
    </p:bg>
    <p:spTree>
      <p:nvGrpSpPr>
        <p:cNvPr id="1" name=""/>
        <p:cNvGrpSpPr/>
        <p:nvPr/>
      </p:nvGrpSpPr>
      <p:grpSpPr>
        <a:xfrm>
          <a:off x="0" y="0"/>
          <a:ext cx="0" cy="0"/>
          <a:chOff x="0" y="0"/>
          <a:chExt cx="0" cy="0"/>
        </a:xfrm>
      </p:grpSpPr>
      <p:grpSp>
        <p:nvGrpSpPr>
          <p:cNvPr id="3" name="Group 3"/>
          <p:cNvGrpSpPr/>
          <p:nvPr/>
        </p:nvGrpSpPr>
        <p:grpSpPr>
          <a:xfrm rot="-4011154">
            <a:off x="11246266" y="312653"/>
            <a:ext cx="17403374" cy="18180272"/>
            <a:chOff x="0" y="0"/>
            <a:chExt cx="4583605" cy="4788220"/>
          </a:xfrm>
        </p:grpSpPr>
        <p:sp>
          <p:nvSpPr>
            <p:cNvPr id="4" name="Freeform 4"/>
            <p:cNvSpPr/>
            <p:nvPr/>
          </p:nvSpPr>
          <p:spPr>
            <a:xfrm>
              <a:off x="0" y="0"/>
              <a:ext cx="4583605" cy="4788220"/>
            </a:xfrm>
            <a:custGeom>
              <a:avLst/>
              <a:gdLst/>
              <a:ahLst/>
              <a:cxnLst/>
              <a:rect l="l" t="t" r="r" b="b"/>
              <a:pathLst>
                <a:path w="4583605" h="4788220">
                  <a:moveTo>
                    <a:pt x="0" y="0"/>
                  </a:moveTo>
                  <a:lnTo>
                    <a:pt x="4583605" y="0"/>
                  </a:lnTo>
                  <a:lnTo>
                    <a:pt x="4583605" y="4788220"/>
                  </a:lnTo>
                  <a:lnTo>
                    <a:pt x="0" y="4788220"/>
                  </a:lnTo>
                  <a:close/>
                </a:path>
              </a:pathLst>
            </a:custGeom>
            <a:gradFill rotWithShape="1">
              <a:gsLst>
                <a:gs pos="0">
                  <a:srgbClr val="27DDDF">
                    <a:alpha val="0"/>
                  </a:srgbClr>
                </a:gs>
                <a:gs pos="100000">
                  <a:srgbClr val="27DDDF">
                    <a:alpha val="100000"/>
                  </a:srgbClr>
                </a:gs>
              </a:gsLst>
              <a:lin ang="5400000"/>
            </a:gradFill>
          </p:spPr>
        </p:sp>
        <p:sp>
          <p:nvSpPr>
            <p:cNvPr id="5" name="TextBox 5"/>
            <p:cNvSpPr txBox="1"/>
            <p:nvPr/>
          </p:nvSpPr>
          <p:spPr>
            <a:xfrm>
              <a:off x="0" y="19050"/>
              <a:ext cx="4583605" cy="4769170"/>
            </a:xfrm>
            <a:prstGeom prst="rect">
              <a:avLst/>
            </a:prstGeom>
          </p:spPr>
          <p:txBody>
            <a:bodyPr lIns="50800" tIns="50800" rIns="50800" bIns="50800" rtlCol="0" anchor="ctr"/>
            <a:lstStyle/>
            <a:p>
              <a:pPr marL="0" lvl="0" indent="0" algn="ctr">
                <a:lnSpc>
                  <a:spcPts val="1387"/>
                </a:lnSpc>
              </a:pPr>
              <a:endParaRPr/>
            </a:p>
          </p:txBody>
        </p:sp>
      </p:grpSp>
      <p:grpSp>
        <p:nvGrpSpPr>
          <p:cNvPr id="9" name="Group 9"/>
          <p:cNvGrpSpPr/>
          <p:nvPr/>
        </p:nvGrpSpPr>
        <p:grpSpPr>
          <a:xfrm>
            <a:off x="2054482" y="2262850"/>
            <a:ext cx="5784422" cy="6645580"/>
            <a:chOff x="0" y="0"/>
            <a:chExt cx="812800" cy="933806"/>
          </a:xfrm>
        </p:grpSpPr>
        <p:sp>
          <p:nvSpPr>
            <p:cNvPr id="10" name="Freeform 10"/>
            <p:cNvSpPr/>
            <p:nvPr/>
          </p:nvSpPr>
          <p:spPr>
            <a:xfrm>
              <a:off x="0" y="0"/>
              <a:ext cx="812800" cy="933806"/>
            </a:xfrm>
            <a:custGeom>
              <a:avLst/>
              <a:gdLst/>
              <a:ahLst/>
              <a:cxnLst/>
              <a:rect l="l" t="t" r="r" b="b"/>
              <a:pathLst>
                <a:path w="812800" h="933806">
                  <a:moveTo>
                    <a:pt x="65582" y="0"/>
                  </a:moveTo>
                  <a:lnTo>
                    <a:pt x="747218" y="0"/>
                  </a:lnTo>
                  <a:cubicBezTo>
                    <a:pt x="783438" y="0"/>
                    <a:pt x="812800" y="29362"/>
                    <a:pt x="812800" y="65582"/>
                  </a:cubicBezTo>
                  <a:lnTo>
                    <a:pt x="812800" y="868224"/>
                  </a:lnTo>
                  <a:cubicBezTo>
                    <a:pt x="812800" y="885617"/>
                    <a:pt x="805890" y="902298"/>
                    <a:pt x="793591" y="914597"/>
                  </a:cubicBezTo>
                  <a:cubicBezTo>
                    <a:pt x="781292" y="926896"/>
                    <a:pt x="764611" y="933806"/>
                    <a:pt x="747218" y="933806"/>
                  </a:cubicBezTo>
                  <a:lnTo>
                    <a:pt x="65582" y="933806"/>
                  </a:lnTo>
                  <a:cubicBezTo>
                    <a:pt x="29362" y="933806"/>
                    <a:pt x="0" y="904444"/>
                    <a:pt x="0" y="868224"/>
                  </a:cubicBezTo>
                  <a:lnTo>
                    <a:pt x="0" y="65582"/>
                  </a:lnTo>
                  <a:cubicBezTo>
                    <a:pt x="0" y="29362"/>
                    <a:pt x="29362" y="0"/>
                    <a:pt x="65582" y="0"/>
                  </a:cubicBezTo>
                  <a:close/>
                </a:path>
              </a:pathLst>
            </a:custGeom>
            <a:blipFill>
              <a:blip r:embed="rId2"/>
              <a:stretch>
                <a:fillRect t="-3812" b="-3812"/>
              </a:stretch>
            </a:blipFill>
          </p:spPr>
        </p:sp>
      </p:grpSp>
      <p:grpSp>
        <p:nvGrpSpPr>
          <p:cNvPr id="11" name="Group 11"/>
          <p:cNvGrpSpPr/>
          <p:nvPr/>
        </p:nvGrpSpPr>
        <p:grpSpPr>
          <a:xfrm>
            <a:off x="2233042" y="4873192"/>
            <a:ext cx="5784422" cy="3959411"/>
            <a:chOff x="0" y="0"/>
            <a:chExt cx="1523469" cy="1042808"/>
          </a:xfrm>
        </p:grpSpPr>
        <p:sp>
          <p:nvSpPr>
            <p:cNvPr id="12" name="Freeform 12"/>
            <p:cNvSpPr/>
            <p:nvPr/>
          </p:nvSpPr>
          <p:spPr>
            <a:xfrm>
              <a:off x="0" y="0"/>
              <a:ext cx="1523469" cy="1042808"/>
            </a:xfrm>
            <a:custGeom>
              <a:avLst/>
              <a:gdLst/>
              <a:ahLst/>
              <a:cxnLst/>
              <a:rect l="l" t="t" r="r" b="b"/>
              <a:pathLst>
                <a:path w="1523469" h="1042808">
                  <a:moveTo>
                    <a:pt x="68259" y="0"/>
                  </a:moveTo>
                  <a:lnTo>
                    <a:pt x="1455210" y="0"/>
                  </a:lnTo>
                  <a:cubicBezTo>
                    <a:pt x="1473314" y="0"/>
                    <a:pt x="1490675" y="7192"/>
                    <a:pt x="1503476" y="19993"/>
                  </a:cubicBezTo>
                  <a:cubicBezTo>
                    <a:pt x="1516278" y="32794"/>
                    <a:pt x="1523469" y="50155"/>
                    <a:pt x="1523469" y="68259"/>
                  </a:cubicBezTo>
                  <a:lnTo>
                    <a:pt x="1523469" y="974549"/>
                  </a:lnTo>
                  <a:cubicBezTo>
                    <a:pt x="1523469" y="1012247"/>
                    <a:pt x="1492908" y="1042808"/>
                    <a:pt x="1455210" y="1042808"/>
                  </a:cubicBezTo>
                  <a:lnTo>
                    <a:pt x="68259" y="1042808"/>
                  </a:lnTo>
                  <a:cubicBezTo>
                    <a:pt x="50155" y="1042808"/>
                    <a:pt x="32794" y="1035616"/>
                    <a:pt x="19993" y="1022815"/>
                  </a:cubicBezTo>
                  <a:cubicBezTo>
                    <a:pt x="7192" y="1010014"/>
                    <a:pt x="0" y="992652"/>
                    <a:pt x="0" y="974549"/>
                  </a:cubicBezTo>
                  <a:lnTo>
                    <a:pt x="0" y="68259"/>
                  </a:lnTo>
                  <a:cubicBezTo>
                    <a:pt x="0" y="30561"/>
                    <a:pt x="30561" y="0"/>
                    <a:pt x="68259" y="0"/>
                  </a:cubicBezTo>
                  <a:close/>
                </a:path>
              </a:pathLst>
            </a:custGeom>
            <a:gradFill rotWithShape="1">
              <a:gsLst>
                <a:gs pos="0">
                  <a:srgbClr val="141519">
                    <a:alpha val="0"/>
                  </a:srgbClr>
                </a:gs>
                <a:gs pos="100000">
                  <a:srgbClr val="141519">
                    <a:alpha val="57000"/>
                  </a:srgbClr>
                </a:gs>
              </a:gsLst>
              <a:lin ang="5400000"/>
            </a:gradFill>
          </p:spPr>
        </p:sp>
        <p:sp>
          <p:nvSpPr>
            <p:cNvPr id="13" name="TextBox 13"/>
            <p:cNvSpPr txBox="1"/>
            <p:nvPr/>
          </p:nvSpPr>
          <p:spPr>
            <a:xfrm>
              <a:off x="0" y="19050"/>
              <a:ext cx="1523469" cy="1023758"/>
            </a:xfrm>
            <a:prstGeom prst="rect">
              <a:avLst/>
            </a:prstGeom>
          </p:spPr>
          <p:txBody>
            <a:bodyPr lIns="50800" tIns="50800" rIns="50800" bIns="50800" rtlCol="0" anchor="ctr"/>
            <a:lstStyle/>
            <a:p>
              <a:pPr marL="0" lvl="0" indent="0" algn="ctr">
                <a:lnSpc>
                  <a:spcPts val="1387"/>
                </a:lnSpc>
              </a:pPr>
              <a:endParaRPr/>
            </a:p>
          </p:txBody>
        </p:sp>
      </p:grpSp>
      <p:grpSp>
        <p:nvGrpSpPr>
          <p:cNvPr id="14" name="Group 14"/>
          <p:cNvGrpSpPr/>
          <p:nvPr/>
        </p:nvGrpSpPr>
        <p:grpSpPr>
          <a:xfrm>
            <a:off x="11056805" y="1910241"/>
            <a:ext cx="5434050" cy="705218"/>
            <a:chOff x="0" y="0"/>
            <a:chExt cx="1417549" cy="183966"/>
          </a:xfrm>
        </p:grpSpPr>
        <p:sp>
          <p:nvSpPr>
            <p:cNvPr id="15" name="Freeform 15"/>
            <p:cNvSpPr/>
            <p:nvPr/>
          </p:nvSpPr>
          <p:spPr>
            <a:xfrm>
              <a:off x="0" y="0"/>
              <a:ext cx="1417549" cy="183966"/>
            </a:xfrm>
            <a:custGeom>
              <a:avLst/>
              <a:gdLst/>
              <a:ahLst/>
              <a:cxnLst/>
              <a:rect l="l" t="t" r="r" b="b"/>
              <a:pathLst>
                <a:path w="1417549" h="183966">
                  <a:moveTo>
                    <a:pt x="29919" y="0"/>
                  </a:moveTo>
                  <a:lnTo>
                    <a:pt x="1387630" y="0"/>
                  </a:lnTo>
                  <a:cubicBezTo>
                    <a:pt x="1404154" y="0"/>
                    <a:pt x="1417549" y="13395"/>
                    <a:pt x="1417549" y="29919"/>
                  </a:cubicBezTo>
                  <a:lnTo>
                    <a:pt x="1417549" y="154047"/>
                  </a:lnTo>
                  <a:cubicBezTo>
                    <a:pt x="1417549" y="170571"/>
                    <a:pt x="1404154" y="183966"/>
                    <a:pt x="1387630" y="183966"/>
                  </a:cubicBezTo>
                  <a:lnTo>
                    <a:pt x="29919" y="183966"/>
                  </a:lnTo>
                  <a:cubicBezTo>
                    <a:pt x="13395" y="183966"/>
                    <a:pt x="0" y="170571"/>
                    <a:pt x="0" y="154047"/>
                  </a:cubicBezTo>
                  <a:lnTo>
                    <a:pt x="0" y="29919"/>
                  </a:lnTo>
                  <a:cubicBezTo>
                    <a:pt x="0" y="13395"/>
                    <a:pt x="13395" y="0"/>
                    <a:pt x="29919" y="0"/>
                  </a:cubicBezTo>
                  <a:close/>
                </a:path>
              </a:pathLst>
            </a:custGeom>
            <a:solidFill>
              <a:srgbClr val="202127"/>
            </a:solidFill>
          </p:spPr>
        </p:sp>
        <p:sp>
          <p:nvSpPr>
            <p:cNvPr id="16" name="TextBox 16"/>
            <p:cNvSpPr txBox="1"/>
            <p:nvPr/>
          </p:nvSpPr>
          <p:spPr>
            <a:xfrm>
              <a:off x="0" y="19050"/>
              <a:ext cx="1417549" cy="164916"/>
            </a:xfrm>
            <a:prstGeom prst="rect">
              <a:avLst/>
            </a:prstGeom>
          </p:spPr>
          <p:txBody>
            <a:bodyPr lIns="50800" tIns="50800" rIns="50800" bIns="50800" rtlCol="0" anchor="ctr"/>
            <a:lstStyle/>
            <a:p>
              <a:pPr marL="0" lvl="0" indent="0" algn="ctr">
                <a:lnSpc>
                  <a:spcPts val="1387"/>
                </a:lnSpc>
              </a:pPr>
              <a:endParaRPr/>
            </a:p>
          </p:txBody>
        </p:sp>
      </p:grpSp>
      <p:grpSp>
        <p:nvGrpSpPr>
          <p:cNvPr id="17" name="Group 17"/>
          <p:cNvGrpSpPr/>
          <p:nvPr/>
        </p:nvGrpSpPr>
        <p:grpSpPr>
          <a:xfrm>
            <a:off x="11056805" y="2901338"/>
            <a:ext cx="5434050" cy="705218"/>
            <a:chOff x="0" y="0"/>
            <a:chExt cx="1417549" cy="183966"/>
          </a:xfrm>
        </p:grpSpPr>
        <p:sp>
          <p:nvSpPr>
            <p:cNvPr id="18" name="Freeform 18"/>
            <p:cNvSpPr/>
            <p:nvPr/>
          </p:nvSpPr>
          <p:spPr>
            <a:xfrm>
              <a:off x="0" y="0"/>
              <a:ext cx="1417549" cy="183966"/>
            </a:xfrm>
            <a:custGeom>
              <a:avLst/>
              <a:gdLst/>
              <a:ahLst/>
              <a:cxnLst/>
              <a:rect l="l" t="t" r="r" b="b"/>
              <a:pathLst>
                <a:path w="1417549" h="183966">
                  <a:moveTo>
                    <a:pt x="29919" y="0"/>
                  </a:moveTo>
                  <a:lnTo>
                    <a:pt x="1387630" y="0"/>
                  </a:lnTo>
                  <a:cubicBezTo>
                    <a:pt x="1404154" y="0"/>
                    <a:pt x="1417549" y="13395"/>
                    <a:pt x="1417549" y="29919"/>
                  </a:cubicBezTo>
                  <a:lnTo>
                    <a:pt x="1417549" y="154047"/>
                  </a:lnTo>
                  <a:cubicBezTo>
                    <a:pt x="1417549" y="170571"/>
                    <a:pt x="1404154" y="183966"/>
                    <a:pt x="1387630" y="183966"/>
                  </a:cubicBezTo>
                  <a:lnTo>
                    <a:pt x="29919" y="183966"/>
                  </a:lnTo>
                  <a:cubicBezTo>
                    <a:pt x="13395" y="183966"/>
                    <a:pt x="0" y="170571"/>
                    <a:pt x="0" y="154047"/>
                  </a:cubicBezTo>
                  <a:lnTo>
                    <a:pt x="0" y="29919"/>
                  </a:lnTo>
                  <a:cubicBezTo>
                    <a:pt x="0" y="13395"/>
                    <a:pt x="13395" y="0"/>
                    <a:pt x="29919" y="0"/>
                  </a:cubicBezTo>
                  <a:close/>
                </a:path>
              </a:pathLst>
            </a:custGeom>
            <a:solidFill>
              <a:srgbClr val="202127"/>
            </a:solidFill>
          </p:spPr>
        </p:sp>
        <p:sp>
          <p:nvSpPr>
            <p:cNvPr id="19" name="TextBox 19"/>
            <p:cNvSpPr txBox="1"/>
            <p:nvPr/>
          </p:nvSpPr>
          <p:spPr>
            <a:xfrm>
              <a:off x="0" y="19050"/>
              <a:ext cx="1417549" cy="164916"/>
            </a:xfrm>
            <a:prstGeom prst="rect">
              <a:avLst/>
            </a:prstGeom>
          </p:spPr>
          <p:txBody>
            <a:bodyPr lIns="50800" tIns="50800" rIns="50800" bIns="50800" rtlCol="0" anchor="ctr"/>
            <a:lstStyle/>
            <a:p>
              <a:pPr marL="0" lvl="0" indent="0" algn="ctr">
                <a:lnSpc>
                  <a:spcPts val="1387"/>
                </a:lnSpc>
              </a:pPr>
              <a:endParaRPr/>
            </a:p>
          </p:txBody>
        </p:sp>
      </p:grpSp>
      <p:grpSp>
        <p:nvGrpSpPr>
          <p:cNvPr id="20" name="Group 20"/>
          <p:cNvGrpSpPr/>
          <p:nvPr/>
        </p:nvGrpSpPr>
        <p:grpSpPr>
          <a:xfrm>
            <a:off x="11056805" y="3891191"/>
            <a:ext cx="5434050" cy="705218"/>
            <a:chOff x="0" y="0"/>
            <a:chExt cx="1417549" cy="183966"/>
          </a:xfrm>
        </p:grpSpPr>
        <p:sp>
          <p:nvSpPr>
            <p:cNvPr id="21" name="Freeform 21"/>
            <p:cNvSpPr/>
            <p:nvPr/>
          </p:nvSpPr>
          <p:spPr>
            <a:xfrm>
              <a:off x="0" y="0"/>
              <a:ext cx="1417549" cy="183966"/>
            </a:xfrm>
            <a:custGeom>
              <a:avLst/>
              <a:gdLst/>
              <a:ahLst/>
              <a:cxnLst/>
              <a:rect l="l" t="t" r="r" b="b"/>
              <a:pathLst>
                <a:path w="1417549" h="183966">
                  <a:moveTo>
                    <a:pt x="29919" y="0"/>
                  </a:moveTo>
                  <a:lnTo>
                    <a:pt x="1387630" y="0"/>
                  </a:lnTo>
                  <a:cubicBezTo>
                    <a:pt x="1404154" y="0"/>
                    <a:pt x="1417549" y="13395"/>
                    <a:pt x="1417549" y="29919"/>
                  </a:cubicBezTo>
                  <a:lnTo>
                    <a:pt x="1417549" y="154047"/>
                  </a:lnTo>
                  <a:cubicBezTo>
                    <a:pt x="1417549" y="170571"/>
                    <a:pt x="1404154" y="183966"/>
                    <a:pt x="1387630" y="183966"/>
                  </a:cubicBezTo>
                  <a:lnTo>
                    <a:pt x="29919" y="183966"/>
                  </a:lnTo>
                  <a:cubicBezTo>
                    <a:pt x="13395" y="183966"/>
                    <a:pt x="0" y="170571"/>
                    <a:pt x="0" y="154047"/>
                  </a:cubicBezTo>
                  <a:lnTo>
                    <a:pt x="0" y="29919"/>
                  </a:lnTo>
                  <a:cubicBezTo>
                    <a:pt x="0" y="13395"/>
                    <a:pt x="13395" y="0"/>
                    <a:pt x="29919" y="0"/>
                  </a:cubicBezTo>
                  <a:close/>
                </a:path>
              </a:pathLst>
            </a:custGeom>
            <a:solidFill>
              <a:srgbClr val="202127"/>
            </a:solidFill>
          </p:spPr>
        </p:sp>
        <p:sp>
          <p:nvSpPr>
            <p:cNvPr id="22" name="TextBox 22"/>
            <p:cNvSpPr txBox="1"/>
            <p:nvPr/>
          </p:nvSpPr>
          <p:spPr>
            <a:xfrm>
              <a:off x="0" y="19050"/>
              <a:ext cx="1417549" cy="164916"/>
            </a:xfrm>
            <a:prstGeom prst="rect">
              <a:avLst/>
            </a:prstGeom>
          </p:spPr>
          <p:txBody>
            <a:bodyPr lIns="50800" tIns="50800" rIns="50800" bIns="50800" rtlCol="0" anchor="ctr"/>
            <a:lstStyle/>
            <a:p>
              <a:pPr marL="0" lvl="0" indent="0" algn="ctr">
                <a:lnSpc>
                  <a:spcPts val="1387"/>
                </a:lnSpc>
              </a:pPr>
              <a:endParaRPr/>
            </a:p>
          </p:txBody>
        </p:sp>
      </p:grpSp>
      <p:grpSp>
        <p:nvGrpSpPr>
          <p:cNvPr id="23" name="Group 23"/>
          <p:cNvGrpSpPr/>
          <p:nvPr/>
        </p:nvGrpSpPr>
        <p:grpSpPr>
          <a:xfrm>
            <a:off x="11056805" y="4881044"/>
            <a:ext cx="5434050" cy="705218"/>
            <a:chOff x="0" y="0"/>
            <a:chExt cx="1417549" cy="183966"/>
          </a:xfrm>
        </p:grpSpPr>
        <p:sp>
          <p:nvSpPr>
            <p:cNvPr id="24" name="Freeform 24"/>
            <p:cNvSpPr/>
            <p:nvPr/>
          </p:nvSpPr>
          <p:spPr>
            <a:xfrm>
              <a:off x="0" y="0"/>
              <a:ext cx="1417549" cy="183966"/>
            </a:xfrm>
            <a:custGeom>
              <a:avLst/>
              <a:gdLst/>
              <a:ahLst/>
              <a:cxnLst/>
              <a:rect l="l" t="t" r="r" b="b"/>
              <a:pathLst>
                <a:path w="1417549" h="183966">
                  <a:moveTo>
                    <a:pt x="29919" y="0"/>
                  </a:moveTo>
                  <a:lnTo>
                    <a:pt x="1387630" y="0"/>
                  </a:lnTo>
                  <a:cubicBezTo>
                    <a:pt x="1404154" y="0"/>
                    <a:pt x="1417549" y="13395"/>
                    <a:pt x="1417549" y="29919"/>
                  </a:cubicBezTo>
                  <a:lnTo>
                    <a:pt x="1417549" y="154047"/>
                  </a:lnTo>
                  <a:cubicBezTo>
                    <a:pt x="1417549" y="170571"/>
                    <a:pt x="1404154" y="183966"/>
                    <a:pt x="1387630" y="183966"/>
                  </a:cubicBezTo>
                  <a:lnTo>
                    <a:pt x="29919" y="183966"/>
                  </a:lnTo>
                  <a:cubicBezTo>
                    <a:pt x="13395" y="183966"/>
                    <a:pt x="0" y="170571"/>
                    <a:pt x="0" y="154047"/>
                  </a:cubicBezTo>
                  <a:lnTo>
                    <a:pt x="0" y="29919"/>
                  </a:lnTo>
                  <a:cubicBezTo>
                    <a:pt x="0" y="13395"/>
                    <a:pt x="13395" y="0"/>
                    <a:pt x="29919" y="0"/>
                  </a:cubicBezTo>
                  <a:close/>
                </a:path>
              </a:pathLst>
            </a:custGeom>
            <a:solidFill>
              <a:srgbClr val="202127"/>
            </a:solidFill>
          </p:spPr>
        </p:sp>
        <p:sp>
          <p:nvSpPr>
            <p:cNvPr id="25" name="TextBox 25"/>
            <p:cNvSpPr txBox="1"/>
            <p:nvPr/>
          </p:nvSpPr>
          <p:spPr>
            <a:xfrm>
              <a:off x="0" y="19050"/>
              <a:ext cx="1417549" cy="164916"/>
            </a:xfrm>
            <a:prstGeom prst="rect">
              <a:avLst/>
            </a:prstGeom>
          </p:spPr>
          <p:txBody>
            <a:bodyPr lIns="50800" tIns="50800" rIns="50800" bIns="50800" rtlCol="0" anchor="ctr"/>
            <a:lstStyle/>
            <a:p>
              <a:pPr marL="0" lvl="0" indent="0" algn="ctr">
                <a:lnSpc>
                  <a:spcPts val="1387"/>
                </a:lnSpc>
              </a:pPr>
              <a:endParaRPr/>
            </a:p>
          </p:txBody>
        </p:sp>
      </p:grpSp>
      <p:grpSp>
        <p:nvGrpSpPr>
          <p:cNvPr id="26" name="Group 26"/>
          <p:cNvGrpSpPr/>
          <p:nvPr/>
        </p:nvGrpSpPr>
        <p:grpSpPr>
          <a:xfrm>
            <a:off x="11056805" y="5870897"/>
            <a:ext cx="5434050" cy="705218"/>
            <a:chOff x="0" y="0"/>
            <a:chExt cx="1417549" cy="183966"/>
          </a:xfrm>
        </p:grpSpPr>
        <p:sp>
          <p:nvSpPr>
            <p:cNvPr id="27" name="Freeform 27"/>
            <p:cNvSpPr/>
            <p:nvPr/>
          </p:nvSpPr>
          <p:spPr>
            <a:xfrm>
              <a:off x="0" y="0"/>
              <a:ext cx="1417549" cy="183966"/>
            </a:xfrm>
            <a:custGeom>
              <a:avLst/>
              <a:gdLst/>
              <a:ahLst/>
              <a:cxnLst/>
              <a:rect l="l" t="t" r="r" b="b"/>
              <a:pathLst>
                <a:path w="1417549" h="183966">
                  <a:moveTo>
                    <a:pt x="29919" y="0"/>
                  </a:moveTo>
                  <a:lnTo>
                    <a:pt x="1387630" y="0"/>
                  </a:lnTo>
                  <a:cubicBezTo>
                    <a:pt x="1404154" y="0"/>
                    <a:pt x="1417549" y="13395"/>
                    <a:pt x="1417549" y="29919"/>
                  </a:cubicBezTo>
                  <a:lnTo>
                    <a:pt x="1417549" y="154047"/>
                  </a:lnTo>
                  <a:cubicBezTo>
                    <a:pt x="1417549" y="170571"/>
                    <a:pt x="1404154" y="183966"/>
                    <a:pt x="1387630" y="183966"/>
                  </a:cubicBezTo>
                  <a:lnTo>
                    <a:pt x="29919" y="183966"/>
                  </a:lnTo>
                  <a:cubicBezTo>
                    <a:pt x="13395" y="183966"/>
                    <a:pt x="0" y="170571"/>
                    <a:pt x="0" y="154047"/>
                  </a:cubicBezTo>
                  <a:lnTo>
                    <a:pt x="0" y="29919"/>
                  </a:lnTo>
                  <a:cubicBezTo>
                    <a:pt x="0" y="13395"/>
                    <a:pt x="13395" y="0"/>
                    <a:pt x="29919" y="0"/>
                  </a:cubicBezTo>
                  <a:close/>
                </a:path>
              </a:pathLst>
            </a:custGeom>
            <a:solidFill>
              <a:srgbClr val="202127"/>
            </a:solidFill>
          </p:spPr>
        </p:sp>
        <p:sp>
          <p:nvSpPr>
            <p:cNvPr id="28" name="TextBox 28"/>
            <p:cNvSpPr txBox="1"/>
            <p:nvPr/>
          </p:nvSpPr>
          <p:spPr>
            <a:xfrm>
              <a:off x="0" y="19050"/>
              <a:ext cx="1417549" cy="164916"/>
            </a:xfrm>
            <a:prstGeom prst="rect">
              <a:avLst/>
            </a:prstGeom>
          </p:spPr>
          <p:txBody>
            <a:bodyPr lIns="50800" tIns="50800" rIns="50800" bIns="50800" rtlCol="0" anchor="ctr"/>
            <a:lstStyle/>
            <a:p>
              <a:pPr marL="0" lvl="0" indent="0" algn="ctr">
                <a:lnSpc>
                  <a:spcPts val="1387"/>
                </a:lnSpc>
              </a:pPr>
              <a:endParaRPr/>
            </a:p>
          </p:txBody>
        </p:sp>
      </p:grpSp>
      <p:grpSp>
        <p:nvGrpSpPr>
          <p:cNvPr id="29" name="Group 29"/>
          <p:cNvGrpSpPr/>
          <p:nvPr/>
        </p:nvGrpSpPr>
        <p:grpSpPr>
          <a:xfrm>
            <a:off x="11056805" y="6860749"/>
            <a:ext cx="5434050" cy="705218"/>
            <a:chOff x="0" y="0"/>
            <a:chExt cx="1417549" cy="183966"/>
          </a:xfrm>
        </p:grpSpPr>
        <p:sp>
          <p:nvSpPr>
            <p:cNvPr id="30" name="Freeform 30"/>
            <p:cNvSpPr/>
            <p:nvPr/>
          </p:nvSpPr>
          <p:spPr>
            <a:xfrm>
              <a:off x="0" y="0"/>
              <a:ext cx="1417549" cy="183966"/>
            </a:xfrm>
            <a:custGeom>
              <a:avLst/>
              <a:gdLst/>
              <a:ahLst/>
              <a:cxnLst/>
              <a:rect l="l" t="t" r="r" b="b"/>
              <a:pathLst>
                <a:path w="1417549" h="183966">
                  <a:moveTo>
                    <a:pt x="29919" y="0"/>
                  </a:moveTo>
                  <a:lnTo>
                    <a:pt x="1387630" y="0"/>
                  </a:lnTo>
                  <a:cubicBezTo>
                    <a:pt x="1404154" y="0"/>
                    <a:pt x="1417549" y="13395"/>
                    <a:pt x="1417549" y="29919"/>
                  </a:cubicBezTo>
                  <a:lnTo>
                    <a:pt x="1417549" y="154047"/>
                  </a:lnTo>
                  <a:cubicBezTo>
                    <a:pt x="1417549" y="170571"/>
                    <a:pt x="1404154" y="183966"/>
                    <a:pt x="1387630" y="183966"/>
                  </a:cubicBezTo>
                  <a:lnTo>
                    <a:pt x="29919" y="183966"/>
                  </a:lnTo>
                  <a:cubicBezTo>
                    <a:pt x="13395" y="183966"/>
                    <a:pt x="0" y="170571"/>
                    <a:pt x="0" y="154047"/>
                  </a:cubicBezTo>
                  <a:lnTo>
                    <a:pt x="0" y="29919"/>
                  </a:lnTo>
                  <a:cubicBezTo>
                    <a:pt x="0" y="13395"/>
                    <a:pt x="13395" y="0"/>
                    <a:pt x="29919" y="0"/>
                  </a:cubicBezTo>
                  <a:close/>
                </a:path>
              </a:pathLst>
            </a:custGeom>
            <a:solidFill>
              <a:srgbClr val="202127"/>
            </a:solidFill>
          </p:spPr>
        </p:sp>
        <p:sp>
          <p:nvSpPr>
            <p:cNvPr id="31" name="TextBox 31"/>
            <p:cNvSpPr txBox="1"/>
            <p:nvPr/>
          </p:nvSpPr>
          <p:spPr>
            <a:xfrm>
              <a:off x="0" y="19050"/>
              <a:ext cx="1417549" cy="164916"/>
            </a:xfrm>
            <a:prstGeom prst="rect">
              <a:avLst/>
            </a:prstGeom>
          </p:spPr>
          <p:txBody>
            <a:bodyPr lIns="50800" tIns="50800" rIns="50800" bIns="50800" rtlCol="0" anchor="ctr"/>
            <a:lstStyle/>
            <a:p>
              <a:pPr marL="0" lvl="0" indent="0" algn="ctr">
                <a:lnSpc>
                  <a:spcPts val="1387"/>
                </a:lnSpc>
              </a:pPr>
              <a:endParaRPr/>
            </a:p>
          </p:txBody>
        </p:sp>
      </p:grpSp>
      <p:grpSp>
        <p:nvGrpSpPr>
          <p:cNvPr id="32" name="Group 32"/>
          <p:cNvGrpSpPr/>
          <p:nvPr/>
        </p:nvGrpSpPr>
        <p:grpSpPr>
          <a:xfrm>
            <a:off x="11056805" y="7850602"/>
            <a:ext cx="5434050" cy="705218"/>
            <a:chOff x="0" y="0"/>
            <a:chExt cx="1417549" cy="183966"/>
          </a:xfrm>
        </p:grpSpPr>
        <p:sp>
          <p:nvSpPr>
            <p:cNvPr id="33" name="Freeform 33"/>
            <p:cNvSpPr/>
            <p:nvPr/>
          </p:nvSpPr>
          <p:spPr>
            <a:xfrm>
              <a:off x="0" y="0"/>
              <a:ext cx="1417549" cy="183966"/>
            </a:xfrm>
            <a:custGeom>
              <a:avLst/>
              <a:gdLst/>
              <a:ahLst/>
              <a:cxnLst/>
              <a:rect l="l" t="t" r="r" b="b"/>
              <a:pathLst>
                <a:path w="1417549" h="183966">
                  <a:moveTo>
                    <a:pt x="29919" y="0"/>
                  </a:moveTo>
                  <a:lnTo>
                    <a:pt x="1387630" y="0"/>
                  </a:lnTo>
                  <a:cubicBezTo>
                    <a:pt x="1404154" y="0"/>
                    <a:pt x="1417549" y="13395"/>
                    <a:pt x="1417549" y="29919"/>
                  </a:cubicBezTo>
                  <a:lnTo>
                    <a:pt x="1417549" y="154047"/>
                  </a:lnTo>
                  <a:cubicBezTo>
                    <a:pt x="1417549" y="170571"/>
                    <a:pt x="1404154" y="183966"/>
                    <a:pt x="1387630" y="183966"/>
                  </a:cubicBezTo>
                  <a:lnTo>
                    <a:pt x="29919" y="183966"/>
                  </a:lnTo>
                  <a:cubicBezTo>
                    <a:pt x="13395" y="183966"/>
                    <a:pt x="0" y="170571"/>
                    <a:pt x="0" y="154047"/>
                  </a:cubicBezTo>
                  <a:lnTo>
                    <a:pt x="0" y="29919"/>
                  </a:lnTo>
                  <a:cubicBezTo>
                    <a:pt x="0" y="13395"/>
                    <a:pt x="13395" y="0"/>
                    <a:pt x="29919" y="0"/>
                  </a:cubicBezTo>
                  <a:close/>
                </a:path>
              </a:pathLst>
            </a:custGeom>
            <a:solidFill>
              <a:srgbClr val="202127"/>
            </a:solidFill>
          </p:spPr>
        </p:sp>
        <p:sp>
          <p:nvSpPr>
            <p:cNvPr id="34" name="TextBox 34"/>
            <p:cNvSpPr txBox="1"/>
            <p:nvPr/>
          </p:nvSpPr>
          <p:spPr>
            <a:xfrm>
              <a:off x="0" y="19050"/>
              <a:ext cx="1417549" cy="164916"/>
            </a:xfrm>
            <a:prstGeom prst="rect">
              <a:avLst/>
            </a:prstGeom>
          </p:spPr>
          <p:txBody>
            <a:bodyPr lIns="50800" tIns="50800" rIns="50800" bIns="50800" rtlCol="0" anchor="ctr"/>
            <a:lstStyle/>
            <a:p>
              <a:pPr marL="0" lvl="0" indent="0" algn="ctr">
                <a:lnSpc>
                  <a:spcPts val="1387"/>
                </a:lnSpc>
              </a:pPr>
              <a:endParaRPr/>
            </a:p>
          </p:txBody>
        </p:sp>
      </p:grpSp>
      <p:sp>
        <p:nvSpPr>
          <p:cNvPr id="39" name="TextBox 39"/>
          <p:cNvSpPr txBox="1"/>
          <p:nvPr/>
        </p:nvSpPr>
        <p:spPr>
          <a:xfrm>
            <a:off x="11547283" y="2163012"/>
            <a:ext cx="3088392" cy="251616"/>
          </a:xfrm>
          <a:prstGeom prst="rect">
            <a:avLst/>
          </a:prstGeom>
        </p:spPr>
        <p:txBody>
          <a:bodyPr lIns="0" tIns="0" rIns="0" bIns="0" rtlCol="0" anchor="t">
            <a:spAutoFit/>
          </a:bodyPr>
          <a:lstStyle/>
          <a:p>
            <a:pPr marL="0" lvl="0" indent="0" algn="l">
              <a:lnSpc>
                <a:spcPts val="1594"/>
              </a:lnSpc>
            </a:pPr>
            <a:r>
              <a:rPr lang="en-US" sz="1812">
                <a:solidFill>
                  <a:srgbClr val="FFFFFF"/>
                </a:solidFill>
                <a:latin typeface="Arial MT Pro"/>
                <a:ea typeface="Arial MT Pro"/>
                <a:cs typeface="Arial MT Pro"/>
                <a:sym typeface="Arial MT Pro"/>
              </a:rPr>
              <a:t>Đăng Nhập (login.php)</a:t>
            </a:r>
          </a:p>
        </p:txBody>
      </p:sp>
      <p:sp>
        <p:nvSpPr>
          <p:cNvPr id="40" name="TextBox 40"/>
          <p:cNvSpPr txBox="1"/>
          <p:nvPr/>
        </p:nvSpPr>
        <p:spPr>
          <a:xfrm>
            <a:off x="11547282" y="3154108"/>
            <a:ext cx="3921317" cy="217047"/>
          </a:xfrm>
          <a:prstGeom prst="rect">
            <a:avLst/>
          </a:prstGeom>
        </p:spPr>
        <p:txBody>
          <a:bodyPr wrap="square" lIns="0" tIns="0" rIns="0" bIns="0" rtlCol="0" anchor="t">
            <a:spAutoFit/>
          </a:bodyPr>
          <a:lstStyle/>
          <a:p>
            <a:pPr marL="0" lvl="0" indent="0" algn="l">
              <a:lnSpc>
                <a:spcPts val="1594"/>
              </a:lnSpc>
            </a:pPr>
            <a:r>
              <a:rPr lang="en-US" sz="1812" dirty="0">
                <a:solidFill>
                  <a:srgbClr val="FFFFFF"/>
                </a:solidFill>
                <a:latin typeface="Arial MT Pro"/>
                <a:ea typeface="Arial MT Pro"/>
                <a:cs typeface="Arial MT Pro"/>
                <a:sym typeface="Arial MT Pro"/>
              </a:rPr>
              <a:t>Giao </a:t>
            </a:r>
            <a:r>
              <a:rPr lang="en-US" sz="1812" dirty="0" err="1">
                <a:solidFill>
                  <a:srgbClr val="FFFFFF"/>
                </a:solidFill>
                <a:latin typeface="Arial MT Pro"/>
                <a:ea typeface="Arial MT Pro"/>
                <a:cs typeface="Arial MT Pro"/>
                <a:sym typeface="Arial MT Pro"/>
              </a:rPr>
              <a:t>diện</a:t>
            </a:r>
            <a:r>
              <a:rPr lang="en-US" sz="1812" dirty="0">
                <a:solidFill>
                  <a:srgbClr val="FFFFFF"/>
                </a:solidFill>
                <a:latin typeface="Arial MT Pro"/>
                <a:ea typeface="Arial MT Pro"/>
                <a:cs typeface="Arial MT Pro"/>
                <a:sym typeface="Arial MT Pro"/>
              </a:rPr>
              <a:t> Trang </a:t>
            </a:r>
            <a:r>
              <a:rPr lang="en-US" sz="1812" dirty="0" err="1">
                <a:solidFill>
                  <a:srgbClr val="FFFFFF"/>
                </a:solidFill>
                <a:latin typeface="Arial MT Pro"/>
                <a:ea typeface="Arial MT Pro"/>
                <a:cs typeface="Arial MT Pro"/>
                <a:sym typeface="Arial MT Pro"/>
              </a:rPr>
              <a:t>Chủ</a:t>
            </a:r>
            <a:r>
              <a:rPr lang="en-US" sz="1812" dirty="0">
                <a:solidFill>
                  <a:srgbClr val="FFFFFF"/>
                </a:solidFill>
                <a:latin typeface="Arial MT Pro"/>
                <a:ea typeface="Arial MT Pro"/>
                <a:cs typeface="Arial MT Pro"/>
                <a:sym typeface="Arial MT Pro"/>
              </a:rPr>
              <a:t> (</a:t>
            </a:r>
            <a:r>
              <a:rPr lang="en-US" sz="1812" dirty="0" err="1">
                <a:solidFill>
                  <a:srgbClr val="FFFFFF"/>
                </a:solidFill>
                <a:latin typeface="Arial MT Pro"/>
                <a:ea typeface="Arial MT Pro"/>
                <a:cs typeface="Arial MT Pro"/>
                <a:sym typeface="Arial MT Pro"/>
              </a:rPr>
              <a:t>index.php</a:t>
            </a:r>
            <a:r>
              <a:rPr lang="en-US" sz="1812" dirty="0">
                <a:solidFill>
                  <a:srgbClr val="FFFFFF"/>
                </a:solidFill>
                <a:latin typeface="Arial MT Pro"/>
                <a:ea typeface="Arial MT Pro"/>
                <a:cs typeface="Arial MT Pro"/>
                <a:sym typeface="Arial MT Pro"/>
              </a:rPr>
              <a:t>)</a:t>
            </a:r>
          </a:p>
        </p:txBody>
      </p:sp>
      <p:sp>
        <p:nvSpPr>
          <p:cNvPr id="41" name="TextBox 41"/>
          <p:cNvSpPr txBox="1"/>
          <p:nvPr/>
        </p:nvSpPr>
        <p:spPr>
          <a:xfrm>
            <a:off x="2670283" y="6579832"/>
            <a:ext cx="4238502" cy="1847176"/>
          </a:xfrm>
          <a:prstGeom prst="rect">
            <a:avLst/>
          </a:prstGeom>
        </p:spPr>
        <p:txBody>
          <a:bodyPr lIns="0" tIns="0" rIns="0" bIns="0" rtlCol="0" anchor="t">
            <a:spAutoFit/>
          </a:bodyPr>
          <a:lstStyle/>
          <a:p>
            <a:pPr marL="0" lvl="0" indent="0" algn="l">
              <a:lnSpc>
                <a:spcPts val="4490"/>
              </a:lnSpc>
            </a:pPr>
            <a:r>
              <a:rPr lang="en-US" sz="5103" b="1" spc="-81">
                <a:solidFill>
                  <a:srgbClr val="27DDDF"/>
                </a:solidFill>
                <a:latin typeface="Arial MT Pro Bold"/>
                <a:ea typeface="Arial MT Pro Bold"/>
                <a:cs typeface="Arial MT Pro Bold"/>
                <a:sym typeface="Arial MT Pro Bold"/>
              </a:rPr>
              <a:t>Các</a:t>
            </a:r>
          </a:p>
          <a:p>
            <a:pPr marL="0" lvl="0" indent="0" algn="l">
              <a:lnSpc>
                <a:spcPts val="4490"/>
              </a:lnSpc>
            </a:pPr>
            <a:r>
              <a:rPr lang="en-US" sz="5103" b="1" spc="-81">
                <a:solidFill>
                  <a:srgbClr val="27DDDF"/>
                </a:solidFill>
                <a:latin typeface="Arial MT Pro Bold"/>
                <a:ea typeface="Arial MT Pro Bold"/>
                <a:cs typeface="Arial MT Pro Bold"/>
                <a:sym typeface="Arial MT Pro Bold"/>
              </a:rPr>
              <a:t>Chức</a:t>
            </a:r>
          </a:p>
          <a:p>
            <a:pPr marL="0" lvl="0" indent="0" algn="l">
              <a:lnSpc>
                <a:spcPts val="4490"/>
              </a:lnSpc>
            </a:pPr>
            <a:r>
              <a:rPr lang="en-US" sz="5103" b="1" spc="-81">
                <a:solidFill>
                  <a:srgbClr val="27DDDF"/>
                </a:solidFill>
                <a:latin typeface="Arial MT Pro Bold"/>
                <a:ea typeface="Arial MT Pro Bold"/>
                <a:cs typeface="Arial MT Pro Bold"/>
                <a:sym typeface="Arial MT Pro Bold"/>
              </a:rPr>
              <a:t>Năng</a:t>
            </a:r>
          </a:p>
        </p:txBody>
      </p:sp>
      <p:sp>
        <p:nvSpPr>
          <p:cNvPr id="42" name="TextBox 42"/>
          <p:cNvSpPr txBox="1"/>
          <p:nvPr/>
        </p:nvSpPr>
        <p:spPr>
          <a:xfrm>
            <a:off x="11547283" y="4143962"/>
            <a:ext cx="3088392" cy="251616"/>
          </a:xfrm>
          <a:prstGeom prst="rect">
            <a:avLst/>
          </a:prstGeom>
        </p:spPr>
        <p:txBody>
          <a:bodyPr lIns="0" tIns="0" rIns="0" bIns="0" rtlCol="0" anchor="t">
            <a:spAutoFit/>
          </a:bodyPr>
          <a:lstStyle/>
          <a:p>
            <a:pPr marL="0" lvl="0" indent="0" algn="l">
              <a:lnSpc>
                <a:spcPts val="1594"/>
              </a:lnSpc>
            </a:pPr>
            <a:r>
              <a:rPr lang="en-US" sz="1812">
                <a:solidFill>
                  <a:srgbClr val="FFFFFF"/>
                </a:solidFill>
                <a:latin typeface="Arial MT Pro"/>
                <a:ea typeface="Arial MT Pro"/>
                <a:cs typeface="Arial MT Pro"/>
                <a:sym typeface="Arial MT Pro"/>
              </a:rPr>
              <a:t>Quản Lý Menu (menu.php)</a:t>
            </a:r>
          </a:p>
        </p:txBody>
      </p:sp>
      <p:sp>
        <p:nvSpPr>
          <p:cNvPr id="43" name="TextBox 43"/>
          <p:cNvSpPr txBox="1"/>
          <p:nvPr/>
        </p:nvSpPr>
        <p:spPr>
          <a:xfrm>
            <a:off x="11547283" y="5133815"/>
            <a:ext cx="3088392" cy="251616"/>
          </a:xfrm>
          <a:prstGeom prst="rect">
            <a:avLst/>
          </a:prstGeom>
        </p:spPr>
        <p:txBody>
          <a:bodyPr lIns="0" tIns="0" rIns="0" bIns="0" rtlCol="0" anchor="t">
            <a:spAutoFit/>
          </a:bodyPr>
          <a:lstStyle/>
          <a:p>
            <a:pPr marL="0" lvl="0" indent="0" algn="l">
              <a:lnSpc>
                <a:spcPts val="1594"/>
              </a:lnSpc>
            </a:pPr>
            <a:r>
              <a:rPr lang="en-US" sz="1812">
                <a:solidFill>
                  <a:srgbClr val="FFFFFF"/>
                </a:solidFill>
                <a:latin typeface="Arial MT Pro"/>
                <a:ea typeface="Arial MT Pro"/>
                <a:cs typeface="Arial MT Pro"/>
                <a:sym typeface="Arial MT Pro"/>
              </a:rPr>
              <a:t>Hệ Thống Order (orders.php)</a:t>
            </a:r>
          </a:p>
        </p:txBody>
      </p:sp>
      <p:sp>
        <p:nvSpPr>
          <p:cNvPr id="44" name="TextBox 44"/>
          <p:cNvSpPr txBox="1"/>
          <p:nvPr/>
        </p:nvSpPr>
        <p:spPr>
          <a:xfrm>
            <a:off x="11547282" y="6123666"/>
            <a:ext cx="4073717" cy="217047"/>
          </a:xfrm>
          <a:prstGeom prst="rect">
            <a:avLst/>
          </a:prstGeom>
        </p:spPr>
        <p:txBody>
          <a:bodyPr wrap="square" lIns="0" tIns="0" rIns="0" bIns="0" rtlCol="0" anchor="t">
            <a:spAutoFit/>
          </a:bodyPr>
          <a:lstStyle/>
          <a:p>
            <a:pPr marL="0" lvl="0" indent="0" algn="l">
              <a:lnSpc>
                <a:spcPts val="1594"/>
              </a:lnSpc>
            </a:pPr>
            <a:r>
              <a:rPr lang="en-US" sz="1812" dirty="0">
                <a:solidFill>
                  <a:srgbClr val="FFFFFF"/>
                </a:solidFill>
                <a:latin typeface="Arial MT Pro"/>
                <a:ea typeface="Arial MT Pro"/>
                <a:cs typeface="Arial MT Pro"/>
                <a:sym typeface="Arial MT Pro"/>
              </a:rPr>
              <a:t>Quản Lý </a:t>
            </a:r>
            <a:r>
              <a:rPr lang="en-US" sz="1812" dirty="0" err="1">
                <a:solidFill>
                  <a:srgbClr val="FFFFFF"/>
                </a:solidFill>
                <a:latin typeface="Arial MT Pro"/>
                <a:ea typeface="Arial MT Pro"/>
                <a:cs typeface="Arial MT Pro"/>
                <a:sym typeface="Arial MT Pro"/>
              </a:rPr>
              <a:t>Nhân</a:t>
            </a:r>
            <a:r>
              <a:rPr lang="en-US" sz="1812" dirty="0">
                <a:solidFill>
                  <a:srgbClr val="FFFFFF"/>
                </a:solidFill>
                <a:latin typeface="Arial MT Pro"/>
                <a:ea typeface="Arial MT Pro"/>
                <a:cs typeface="Arial MT Pro"/>
                <a:sym typeface="Arial MT Pro"/>
              </a:rPr>
              <a:t> Viên (</a:t>
            </a:r>
            <a:r>
              <a:rPr lang="en-US" sz="1812" dirty="0" err="1">
                <a:solidFill>
                  <a:srgbClr val="FFFFFF"/>
                </a:solidFill>
                <a:latin typeface="Arial MT Pro"/>
                <a:ea typeface="Arial MT Pro"/>
                <a:cs typeface="Arial MT Pro"/>
                <a:sym typeface="Arial MT Pro"/>
              </a:rPr>
              <a:t>staff.php</a:t>
            </a:r>
            <a:r>
              <a:rPr lang="en-US" sz="1812" dirty="0">
                <a:solidFill>
                  <a:srgbClr val="FFFFFF"/>
                </a:solidFill>
                <a:latin typeface="Arial MT Pro"/>
                <a:ea typeface="Arial MT Pro"/>
                <a:cs typeface="Arial MT Pro"/>
                <a:sym typeface="Arial MT Pro"/>
              </a:rPr>
              <a:t>)</a:t>
            </a:r>
          </a:p>
        </p:txBody>
      </p:sp>
      <p:sp>
        <p:nvSpPr>
          <p:cNvPr id="45" name="TextBox 45"/>
          <p:cNvSpPr txBox="1"/>
          <p:nvPr/>
        </p:nvSpPr>
        <p:spPr>
          <a:xfrm>
            <a:off x="11547283" y="7113520"/>
            <a:ext cx="3088392" cy="251616"/>
          </a:xfrm>
          <a:prstGeom prst="rect">
            <a:avLst/>
          </a:prstGeom>
        </p:spPr>
        <p:txBody>
          <a:bodyPr lIns="0" tIns="0" rIns="0" bIns="0" rtlCol="0" anchor="t">
            <a:spAutoFit/>
          </a:bodyPr>
          <a:lstStyle/>
          <a:p>
            <a:pPr marL="0" lvl="0" indent="0" algn="l">
              <a:lnSpc>
                <a:spcPts val="1594"/>
              </a:lnSpc>
            </a:pPr>
            <a:r>
              <a:rPr lang="en-US" sz="1812">
                <a:solidFill>
                  <a:srgbClr val="FFFFFF"/>
                </a:solidFill>
                <a:latin typeface="Arial MT Pro"/>
                <a:ea typeface="Arial MT Pro"/>
                <a:cs typeface="Arial MT Pro"/>
                <a:sym typeface="Arial MT Pro"/>
              </a:rPr>
              <a:t>Quản Lý Kho (inventory.php)</a:t>
            </a:r>
          </a:p>
        </p:txBody>
      </p:sp>
      <p:sp>
        <p:nvSpPr>
          <p:cNvPr id="46" name="TextBox 46"/>
          <p:cNvSpPr txBox="1"/>
          <p:nvPr/>
        </p:nvSpPr>
        <p:spPr>
          <a:xfrm>
            <a:off x="11547283" y="8103373"/>
            <a:ext cx="3088392" cy="251616"/>
          </a:xfrm>
          <a:prstGeom prst="rect">
            <a:avLst/>
          </a:prstGeom>
        </p:spPr>
        <p:txBody>
          <a:bodyPr lIns="0" tIns="0" rIns="0" bIns="0" rtlCol="0" anchor="t">
            <a:spAutoFit/>
          </a:bodyPr>
          <a:lstStyle/>
          <a:p>
            <a:pPr marL="0" lvl="0" indent="0" algn="l">
              <a:lnSpc>
                <a:spcPts val="1594"/>
              </a:lnSpc>
            </a:pPr>
            <a:r>
              <a:rPr lang="en-US" sz="1812" dirty="0" err="1">
                <a:solidFill>
                  <a:srgbClr val="FFFFFF"/>
                </a:solidFill>
                <a:latin typeface="Arial MT Pro"/>
                <a:ea typeface="Arial MT Pro"/>
                <a:cs typeface="Arial MT Pro"/>
                <a:sym typeface="Arial MT Pro"/>
              </a:rPr>
              <a:t>Thống</a:t>
            </a:r>
            <a:r>
              <a:rPr lang="en-US" sz="1812" dirty="0">
                <a:solidFill>
                  <a:srgbClr val="FFFFFF"/>
                </a:solidFill>
                <a:latin typeface="Arial MT Pro"/>
                <a:ea typeface="Arial MT Pro"/>
                <a:cs typeface="Arial MT Pro"/>
                <a:sym typeface="Arial MT Pro"/>
              </a:rPr>
              <a:t> </a:t>
            </a:r>
            <a:r>
              <a:rPr lang="en-US" sz="1812" dirty="0" err="1">
                <a:solidFill>
                  <a:srgbClr val="FFFFFF"/>
                </a:solidFill>
                <a:latin typeface="Arial MT Pro"/>
                <a:ea typeface="Arial MT Pro"/>
                <a:cs typeface="Arial MT Pro"/>
                <a:sym typeface="Arial MT Pro"/>
              </a:rPr>
              <a:t>Kê</a:t>
            </a:r>
            <a:r>
              <a:rPr lang="en-US" sz="1812" dirty="0">
                <a:solidFill>
                  <a:srgbClr val="FFFFFF"/>
                </a:solidFill>
                <a:latin typeface="Arial MT Pro"/>
                <a:ea typeface="Arial MT Pro"/>
                <a:cs typeface="Arial MT Pro"/>
                <a:sym typeface="Arial MT Pro"/>
              </a:rPr>
              <a:t> (</a:t>
            </a:r>
            <a:r>
              <a:rPr lang="en-US" sz="1812" dirty="0" err="1">
                <a:solidFill>
                  <a:srgbClr val="FFFFFF"/>
                </a:solidFill>
                <a:latin typeface="Arial MT Pro"/>
                <a:ea typeface="Arial MT Pro"/>
                <a:cs typeface="Arial MT Pro"/>
                <a:sym typeface="Arial MT Pro"/>
              </a:rPr>
              <a:t>reports.php</a:t>
            </a:r>
            <a:r>
              <a:rPr lang="en-US" sz="1812" dirty="0">
                <a:solidFill>
                  <a:srgbClr val="FFFFFF"/>
                </a:solidFill>
                <a:latin typeface="Arial MT Pro"/>
                <a:ea typeface="Arial MT Pro"/>
                <a:cs typeface="Arial MT Pro"/>
                <a:sym typeface="Arial MT Pro"/>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41519"/>
        </a:solidFill>
        <a:effectLst/>
      </p:bgPr>
    </p:bg>
    <p:spTree>
      <p:nvGrpSpPr>
        <p:cNvPr id="1" name=""/>
        <p:cNvGrpSpPr/>
        <p:nvPr/>
      </p:nvGrpSpPr>
      <p:grpSpPr>
        <a:xfrm>
          <a:off x="0" y="0"/>
          <a:ext cx="0" cy="0"/>
          <a:chOff x="0" y="0"/>
          <a:chExt cx="0" cy="0"/>
        </a:xfrm>
      </p:grpSpPr>
      <p:grpSp>
        <p:nvGrpSpPr>
          <p:cNvPr id="6" name="Group 6"/>
          <p:cNvGrpSpPr/>
          <p:nvPr/>
        </p:nvGrpSpPr>
        <p:grpSpPr>
          <a:xfrm>
            <a:off x="1905000" y="4610100"/>
            <a:ext cx="3293766" cy="3657600"/>
            <a:chOff x="0" y="0"/>
            <a:chExt cx="867494" cy="963319"/>
          </a:xfrm>
        </p:grpSpPr>
        <p:sp>
          <p:nvSpPr>
            <p:cNvPr id="7" name="Freeform 7"/>
            <p:cNvSpPr/>
            <p:nvPr/>
          </p:nvSpPr>
          <p:spPr>
            <a:xfrm>
              <a:off x="0" y="0"/>
              <a:ext cx="867494" cy="963319"/>
            </a:xfrm>
            <a:custGeom>
              <a:avLst/>
              <a:gdLst/>
              <a:ahLst/>
              <a:cxnLst/>
              <a:rect l="l" t="t" r="r" b="b"/>
              <a:pathLst>
                <a:path w="867494" h="963319">
                  <a:moveTo>
                    <a:pt x="82267" y="0"/>
                  </a:moveTo>
                  <a:lnTo>
                    <a:pt x="785227" y="0"/>
                  </a:lnTo>
                  <a:cubicBezTo>
                    <a:pt x="807046" y="0"/>
                    <a:pt x="827970" y="8667"/>
                    <a:pt x="843399" y="24095"/>
                  </a:cubicBezTo>
                  <a:cubicBezTo>
                    <a:pt x="858826" y="39523"/>
                    <a:pt x="867494" y="60448"/>
                    <a:pt x="867494" y="82267"/>
                  </a:cubicBezTo>
                  <a:lnTo>
                    <a:pt x="867494" y="881052"/>
                  </a:lnTo>
                  <a:cubicBezTo>
                    <a:pt x="867494" y="902870"/>
                    <a:pt x="858826" y="923795"/>
                    <a:pt x="843399" y="939223"/>
                  </a:cubicBezTo>
                  <a:cubicBezTo>
                    <a:pt x="827970" y="954651"/>
                    <a:pt x="807046" y="963319"/>
                    <a:pt x="785227" y="963319"/>
                  </a:cubicBezTo>
                  <a:lnTo>
                    <a:pt x="82267" y="963319"/>
                  </a:lnTo>
                  <a:cubicBezTo>
                    <a:pt x="60448" y="963319"/>
                    <a:pt x="39523" y="954651"/>
                    <a:pt x="24095" y="939223"/>
                  </a:cubicBezTo>
                  <a:cubicBezTo>
                    <a:pt x="8667" y="923795"/>
                    <a:pt x="0" y="902870"/>
                    <a:pt x="0" y="881052"/>
                  </a:cubicBezTo>
                  <a:lnTo>
                    <a:pt x="0" y="82267"/>
                  </a:lnTo>
                  <a:cubicBezTo>
                    <a:pt x="0" y="60448"/>
                    <a:pt x="8667" y="39523"/>
                    <a:pt x="24095" y="24095"/>
                  </a:cubicBezTo>
                  <a:cubicBezTo>
                    <a:pt x="39523" y="8667"/>
                    <a:pt x="60448" y="0"/>
                    <a:pt x="82267" y="0"/>
                  </a:cubicBezTo>
                  <a:close/>
                </a:path>
              </a:pathLst>
            </a:custGeom>
            <a:solidFill>
              <a:srgbClr val="202127"/>
            </a:solidFill>
          </p:spPr>
        </p:sp>
        <p:sp>
          <p:nvSpPr>
            <p:cNvPr id="8" name="TextBox 8"/>
            <p:cNvSpPr txBox="1"/>
            <p:nvPr/>
          </p:nvSpPr>
          <p:spPr>
            <a:xfrm>
              <a:off x="0" y="19050"/>
              <a:ext cx="867494" cy="944269"/>
            </a:xfrm>
            <a:prstGeom prst="rect">
              <a:avLst/>
            </a:prstGeom>
          </p:spPr>
          <p:txBody>
            <a:bodyPr lIns="50800" tIns="50800" rIns="50800" bIns="50800" rtlCol="0" anchor="ctr"/>
            <a:lstStyle/>
            <a:p>
              <a:pPr marL="0" lvl="0" indent="0" algn="l">
                <a:lnSpc>
                  <a:spcPts val="1387"/>
                </a:lnSpc>
              </a:pPr>
              <a:endParaRPr/>
            </a:p>
          </p:txBody>
        </p:sp>
      </p:grpSp>
      <p:grpSp>
        <p:nvGrpSpPr>
          <p:cNvPr id="9" name="Group 9"/>
          <p:cNvGrpSpPr/>
          <p:nvPr/>
        </p:nvGrpSpPr>
        <p:grpSpPr>
          <a:xfrm>
            <a:off x="1905000" y="1622121"/>
            <a:ext cx="10409926" cy="2638134"/>
            <a:chOff x="0" y="0"/>
            <a:chExt cx="2741709" cy="694817"/>
          </a:xfrm>
        </p:grpSpPr>
        <p:sp>
          <p:nvSpPr>
            <p:cNvPr id="10" name="Freeform 10"/>
            <p:cNvSpPr/>
            <p:nvPr/>
          </p:nvSpPr>
          <p:spPr>
            <a:xfrm>
              <a:off x="0" y="0"/>
              <a:ext cx="2741709" cy="694817"/>
            </a:xfrm>
            <a:custGeom>
              <a:avLst/>
              <a:gdLst/>
              <a:ahLst/>
              <a:cxnLst/>
              <a:rect l="l" t="t" r="r" b="b"/>
              <a:pathLst>
                <a:path w="2741709" h="694817">
                  <a:moveTo>
                    <a:pt x="26030" y="0"/>
                  </a:moveTo>
                  <a:lnTo>
                    <a:pt x="2715679" y="0"/>
                  </a:lnTo>
                  <a:cubicBezTo>
                    <a:pt x="2722583" y="0"/>
                    <a:pt x="2729204" y="2742"/>
                    <a:pt x="2734085" y="7624"/>
                  </a:cubicBezTo>
                  <a:cubicBezTo>
                    <a:pt x="2738967" y="12505"/>
                    <a:pt x="2741709" y="19126"/>
                    <a:pt x="2741709" y="26030"/>
                  </a:cubicBezTo>
                  <a:lnTo>
                    <a:pt x="2741709" y="668787"/>
                  </a:lnTo>
                  <a:cubicBezTo>
                    <a:pt x="2741709" y="683163"/>
                    <a:pt x="2730055" y="694817"/>
                    <a:pt x="2715679" y="694817"/>
                  </a:cubicBezTo>
                  <a:lnTo>
                    <a:pt x="26030" y="694817"/>
                  </a:lnTo>
                  <a:cubicBezTo>
                    <a:pt x="19126" y="694817"/>
                    <a:pt x="12505" y="692075"/>
                    <a:pt x="7624" y="687193"/>
                  </a:cubicBezTo>
                  <a:cubicBezTo>
                    <a:pt x="2742" y="682312"/>
                    <a:pt x="0" y="675691"/>
                    <a:pt x="0" y="668787"/>
                  </a:cubicBezTo>
                  <a:lnTo>
                    <a:pt x="0" y="26030"/>
                  </a:lnTo>
                  <a:cubicBezTo>
                    <a:pt x="0" y="11654"/>
                    <a:pt x="11654" y="0"/>
                    <a:pt x="26030" y="0"/>
                  </a:cubicBezTo>
                  <a:close/>
                </a:path>
              </a:pathLst>
            </a:custGeom>
            <a:gradFill rotWithShape="1">
              <a:gsLst>
                <a:gs pos="0">
                  <a:srgbClr val="0C4A5B">
                    <a:alpha val="100000"/>
                  </a:srgbClr>
                </a:gs>
                <a:gs pos="100000">
                  <a:srgbClr val="27DDDF">
                    <a:alpha val="100000"/>
                  </a:srgbClr>
                </a:gs>
              </a:gsLst>
              <a:lin ang="2700000"/>
            </a:gradFill>
          </p:spPr>
        </p:sp>
        <p:sp>
          <p:nvSpPr>
            <p:cNvPr id="11" name="TextBox 11"/>
            <p:cNvSpPr txBox="1"/>
            <p:nvPr/>
          </p:nvSpPr>
          <p:spPr>
            <a:xfrm>
              <a:off x="0" y="19050"/>
              <a:ext cx="2741709" cy="675767"/>
            </a:xfrm>
            <a:prstGeom prst="rect">
              <a:avLst/>
            </a:prstGeom>
          </p:spPr>
          <p:txBody>
            <a:bodyPr lIns="50800" tIns="50800" rIns="50800" bIns="50800" rtlCol="0" anchor="ctr"/>
            <a:lstStyle/>
            <a:p>
              <a:pPr marL="0" lvl="0" indent="0" algn="l">
                <a:lnSpc>
                  <a:spcPts val="1387"/>
                </a:lnSpc>
              </a:pPr>
              <a:endParaRPr/>
            </a:p>
          </p:txBody>
        </p:sp>
      </p:grpSp>
      <p:grpSp>
        <p:nvGrpSpPr>
          <p:cNvPr id="12" name="Group 12"/>
          <p:cNvGrpSpPr/>
          <p:nvPr/>
        </p:nvGrpSpPr>
        <p:grpSpPr>
          <a:xfrm>
            <a:off x="5463080" y="4610100"/>
            <a:ext cx="3293766" cy="3657600"/>
            <a:chOff x="0" y="0"/>
            <a:chExt cx="867494" cy="963319"/>
          </a:xfrm>
        </p:grpSpPr>
        <p:sp>
          <p:nvSpPr>
            <p:cNvPr id="13" name="Freeform 13"/>
            <p:cNvSpPr/>
            <p:nvPr/>
          </p:nvSpPr>
          <p:spPr>
            <a:xfrm>
              <a:off x="0" y="0"/>
              <a:ext cx="867494" cy="963319"/>
            </a:xfrm>
            <a:custGeom>
              <a:avLst/>
              <a:gdLst/>
              <a:ahLst/>
              <a:cxnLst/>
              <a:rect l="l" t="t" r="r" b="b"/>
              <a:pathLst>
                <a:path w="867494" h="963319">
                  <a:moveTo>
                    <a:pt x="82267" y="0"/>
                  </a:moveTo>
                  <a:lnTo>
                    <a:pt x="785227" y="0"/>
                  </a:lnTo>
                  <a:cubicBezTo>
                    <a:pt x="807046" y="0"/>
                    <a:pt x="827970" y="8667"/>
                    <a:pt x="843399" y="24095"/>
                  </a:cubicBezTo>
                  <a:cubicBezTo>
                    <a:pt x="858826" y="39523"/>
                    <a:pt x="867494" y="60448"/>
                    <a:pt x="867494" y="82267"/>
                  </a:cubicBezTo>
                  <a:lnTo>
                    <a:pt x="867494" y="881052"/>
                  </a:lnTo>
                  <a:cubicBezTo>
                    <a:pt x="867494" y="902870"/>
                    <a:pt x="858826" y="923795"/>
                    <a:pt x="843399" y="939223"/>
                  </a:cubicBezTo>
                  <a:cubicBezTo>
                    <a:pt x="827970" y="954651"/>
                    <a:pt x="807046" y="963319"/>
                    <a:pt x="785227" y="963319"/>
                  </a:cubicBezTo>
                  <a:lnTo>
                    <a:pt x="82267" y="963319"/>
                  </a:lnTo>
                  <a:cubicBezTo>
                    <a:pt x="60448" y="963319"/>
                    <a:pt x="39523" y="954651"/>
                    <a:pt x="24095" y="939223"/>
                  </a:cubicBezTo>
                  <a:cubicBezTo>
                    <a:pt x="8667" y="923795"/>
                    <a:pt x="0" y="902870"/>
                    <a:pt x="0" y="881052"/>
                  </a:cubicBezTo>
                  <a:lnTo>
                    <a:pt x="0" y="82267"/>
                  </a:lnTo>
                  <a:cubicBezTo>
                    <a:pt x="0" y="60448"/>
                    <a:pt x="8667" y="39523"/>
                    <a:pt x="24095" y="24095"/>
                  </a:cubicBezTo>
                  <a:cubicBezTo>
                    <a:pt x="39523" y="8667"/>
                    <a:pt x="60448" y="0"/>
                    <a:pt x="82267" y="0"/>
                  </a:cubicBezTo>
                  <a:close/>
                </a:path>
              </a:pathLst>
            </a:custGeom>
            <a:solidFill>
              <a:srgbClr val="202127"/>
            </a:solidFill>
          </p:spPr>
        </p:sp>
        <p:sp>
          <p:nvSpPr>
            <p:cNvPr id="14" name="TextBox 14"/>
            <p:cNvSpPr txBox="1"/>
            <p:nvPr/>
          </p:nvSpPr>
          <p:spPr>
            <a:xfrm>
              <a:off x="0" y="19050"/>
              <a:ext cx="867494" cy="944269"/>
            </a:xfrm>
            <a:prstGeom prst="rect">
              <a:avLst/>
            </a:prstGeom>
          </p:spPr>
          <p:txBody>
            <a:bodyPr lIns="50800" tIns="50800" rIns="50800" bIns="50800" rtlCol="0" anchor="ctr"/>
            <a:lstStyle/>
            <a:p>
              <a:pPr marL="0" lvl="0" indent="0" algn="l">
                <a:lnSpc>
                  <a:spcPts val="1387"/>
                </a:lnSpc>
              </a:pPr>
              <a:endParaRPr/>
            </a:p>
          </p:txBody>
        </p:sp>
      </p:grpSp>
      <p:sp>
        <p:nvSpPr>
          <p:cNvPr id="24" name="TextBox 24"/>
          <p:cNvSpPr txBox="1"/>
          <p:nvPr/>
        </p:nvSpPr>
        <p:spPr>
          <a:xfrm>
            <a:off x="2434168" y="2204538"/>
            <a:ext cx="8454192" cy="1394835"/>
          </a:xfrm>
          <a:prstGeom prst="rect">
            <a:avLst/>
          </a:prstGeom>
        </p:spPr>
        <p:txBody>
          <a:bodyPr lIns="0" tIns="0" rIns="0" bIns="0" rtlCol="0" anchor="t">
            <a:spAutoFit/>
          </a:bodyPr>
          <a:lstStyle/>
          <a:p>
            <a:pPr marL="0" lvl="0" indent="0" algn="l">
              <a:lnSpc>
                <a:spcPts val="5089"/>
              </a:lnSpc>
            </a:pPr>
            <a:r>
              <a:rPr lang="en-US" sz="4893" b="1" spc="-205">
                <a:solidFill>
                  <a:srgbClr val="FFFFFF"/>
                </a:solidFill>
                <a:latin typeface="Arial MT Pro Bold"/>
                <a:ea typeface="Arial MT Pro Bold"/>
                <a:cs typeface="Arial MT Pro Bold"/>
                <a:sym typeface="Arial MT Pro Bold"/>
              </a:rPr>
              <a:t>Vai Trò Thành Viên Trong Nhóm</a:t>
            </a:r>
          </a:p>
        </p:txBody>
      </p:sp>
      <p:sp>
        <p:nvSpPr>
          <p:cNvPr id="25" name="TextBox 25"/>
          <p:cNvSpPr txBox="1"/>
          <p:nvPr/>
        </p:nvSpPr>
        <p:spPr>
          <a:xfrm>
            <a:off x="2287947" y="4837497"/>
            <a:ext cx="2527871" cy="359073"/>
          </a:xfrm>
          <a:prstGeom prst="rect">
            <a:avLst/>
          </a:prstGeom>
        </p:spPr>
        <p:txBody>
          <a:bodyPr wrap="square" lIns="0" tIns="0" rIns="0" bIns="0" rtlCol="0" anchor="t">
            <a:spAutoFit/>
          </a:bodyPr>
          <a:lstStyle/>
          <a:p>
            <a:pPr marL="0" lvl="0" indent="0" algn="l">
              <a:lnSpc>
                <a:spcPts val="2814"/>
              </a:lnSpc>
            </a:pPr>
            <a:r>
              <a:rPr lang="en-US" sz="2400" b="1" spc="-113" dirty="0">
                <a:solidFill>
                  <a:srgbClr val="FFFFFF"/>
                </a:solidFill>
                <a:latin typeface="Times New Roman" panose="02020603050405020304" pitchFamily="18" charset="0"/>
                <a:ea typeface="Arial MT Pro Bold"/>
                <a:cs typeface="Times New Roman" panose="02020603050405020304" pitchFamily="18" charset="0"/>
                <a:sym typeface="Arial MT Pro Bold"/>
              </a:rPr>
              <a:t>Đặng Trường Huy</a:t>
            </a:r>
          </a:p>
        </p:txBody>
      </p:sp>
      <p:sp>
        <p:nvSpPr>
          <p:cNvPr id="26" name="TextBox 26"/>
          <p:cNvSpPr txBox="1"/>
          <p:nvPr/>
        </p:nvSpPr>
        <p:spPr>
          <a:xfrm>
            <a:off x="6070129" y="4818867"/>
            <a:ext cx="2326340" cy="359073"/>
          </a:xfrm>
          <a:prstGeom prst="rect">
            <a:avLst/>
          </a:prstGeom>
        </p:spPr>
        <p:txBody>
          <a:bodyPr wrap="square" lIns="0" tIns="0" rIns="0" bIns="0" rtlCol="0" anchor="t">
            <a:spAutoFit/>
          </a:bodyPr>
          <a:lstStyle/>
          <a:p>
            <a:pPr marL="0" lvl="0" indent="0" algn="l">
              <a:lnSpc>
                <a:spcPts val="2814"/>
              </a:lnSpc>
            </a:pPr>
            <a:r>
              <a:rPr lang="en-US" sz="2400" b="1" spc="-113" dirty="0">
                <a:solidFill>
                  <a:srgbClr val="FFFFFF"/>
                </a:solidFill>
                <a:latin typeface="Times New Roman" panose="02020603050405020304" pitchFamily="18" charset="0"/>
                <a:ea typeface="Arial MT Pro Bold"/>
                <a:cs typeface="Times New Roman" panose="02020603050405020304" pitchFamily="18" charset="0"/>
                <a:sym typeface="Arial MT Pro Bold"/>
              </a:rPr>
              <a:t>Lê Thanh </a:t>
            </a:r>
            <a:r>
              <a:rPr lang="en-US" sz="2400" b="1" spc="-113" dirty="0" err="1">
                <a:solidFill>
                  <a:srgbClr val="FFFFFF"/>
                </a:solidFill>
                <a:latin typeface="Times New Roman" panose="02020603050405020304" pitchFamily="18" charset="0"/>
                <a:ea typeface="Arial MT Pro Bold"/>
                <a:cs typeface="Times New Roman" panose="02020603050405020304" pitchFamily="18" charset="0"/>
                <a:sym typeface="Arial MT Pro Bold"/>
              </a:rPr>
              <a:t>Tuyền</a:t>
            </a:r>
            <a:endParaRPr lang="en-US" sz="2400" b="1" spc="-113" dirty="0">
              <a:solidFill>
                <a:srgbClr val="FFFFFF"/>
              </a:solidFill>
              <a:latin typeface="Times New Roman" panose="02020603050405020304" pitchFamily="18" charset="0"/>
              <a:ea typeface="Arial MT Pro Bold"/>
              <a:cs typeface="Times New Roman" panose="02020603050405020304" pitchFamily="18" charset="0"/>
              <a:sym typeface="Arial MT Pro Bold"/>
            </a:endParaRPr>
          </a:p>
        </p:txBody>
      </p:sp>
      <p:sp>
        <p:nvSpPr>
          <p:cNvPr id="27" name="TextBox 27"/>
          <p:cNvSpPr txBox="1"/>
          <p:nvPr/>
        </p:nvSpPr>
        <p:spPr>
          <a:xfrm>
            <a:off x="2244330" y="5532141"/>
            <a:ext cx="2453395" cy="2492990"/>
          </a:xfrm>
          <a:prstGeom prst="rect">
            <a:avLst/>
          </a:prstGeom>
        </p:spPr>
        <p:txBody>
          <a:bodyPr wrap="square" lIns="0" tIns="0" rIns="0" bIns="0" rtlCol="0" anchor="t">
            <a:spAutoFit/>
          </a:bodyPr>
          <a:lstStyle/>
          <a:p>
            <a:pPr marL="259080" lvl="1" indent="-129540" algn="l">
              <a:spcBef>
                <a:spcPct val="0"/>
              </a:spcBef>
              <a:buFont typeface="Arial"/>
              <a:buChar char="•"/>
            </a:pP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menu.php</a:t>
            </a:r>
            <a:r>
              <a:rPr lang="en-US" dirty="0">
                <a:solidFill>
                  <a:srgbClr val="FFFFFF"/>
                </a:solidFill>
                <a:latin typeface="Times New Roman" panose="02020603050405020304" pitchFamily="18" charset="0"/>
                <a:ea typeface="Arial MT Pro"/>
                <a:cs typeface="Times New Roman" panose="02020603050405020304" pitchFamily="18" charset="0"/>
                <a:sym typeface="Arial MT Pro"/>
              </a:rPr>
              <a:t>: Quản </a:t>
            </a: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lý</a:t>
            </a:r>
            <a:r>
              <a:rPr lang="en-US" dirty="0">
                <a:solidFill>
                  <a:srgbClr val="FFFFFF"/>
                </a:solidFill>
                <a:latin typeface="Times New Roman" panose="02020603050405020304" pitchFamily="18" charset="0"/>
                <a:ea typeface="Arial MT Pro"/>
                <a:cs typeface="Times New Roman" panose="02020603050405020304" pitchFamily="18" charset="0"/>
                <a:sym typeface="Arial MT Pro"/>
              </a:rPr>
              <a:t> menu </a:t>
            </a: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món</a:t>
            </a:r>
            <a:r>
              <a:rPr lang="en-US" dirty="0">
                <a:solidFill>
                  <a:srgbClr val="FFFFFF"/>
                </a:solidFill>
                <a:latin typeface="Times New Roman" panose="02020603050405020304" pitchFamily="18" charset="0"/>
                <a:ea typeface="Arial MT Pro"/>
                <a:cs typeface="Times New Roman" panose="02020603050405020304" pitchFamily="18" charset="0"/>
                <a:sym typeface="Arial MT Pro"/>
              </a:rPr>
              <a:t> coffee</a:t>
            </a:r>
          </a:p>
          <a:p>
            <a:pPr marL="259080" lvl="1" indent="-129540" algn="l">
              <a:spcBef>
                <a:spcPct val="0"/>
              </a:spcBef>
              <a:buFont typeface="Arial"/>
              <a:buChar char="•"/>
            </a:pP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orders.php</a:t>
            </a:r>
            <a:r>
              <a:rPr lang="en-US"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Hệ</a:t>
            </a:r>
            <a:r>
              <a:rPr lang="en-US"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thống</a:t>
            </a:r>
            <a:r>
              <a:rPr lang="en-US" dirty="0">
                <a:solidFill>
                  <a:srgbClr val="FFFFFF"/>
                </a:solidFill>
                <a:latin typeface="Times New Roman" panose="02020603050405020304" pitchFamily="18" charset="0"/>
                <a:ea typeface="Arial MT Pro"/>
                <a:cs typeface="Times New Roman" panose="02020603050405020304" pitchFamily="18" charset="0"/>
                <a:sym typeface="Arial MT Pro"/>
              </a:rPr>
              <a:t> order</a:t>
            </a:r>
          </a:p>
          <a:p>
            <a:pPr marL="259080" lvl="1" indent="-129540" algn="l">
              <a:spcBef>
                <a:spcPct val="0"/>
              </a:spcBef>
              <a:buFont typeface="Arial"/>
              <a:buChar char="•"/>
            </a:pP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login.php</a:t>
            </a:r>
            <a:r>
              <a:rPr lang="en-US" dirty="0">
                <a:solidFill>
                  <a:srgbClr val="FFFFFF"/>
                </a:solidFill>
                <a:latin typeface="Times New Roman" panose="02020603050405020304" pitchFamily="18" charset="0"/>
                <a:ea typeface="Arial MT Pro"/>
                <a:cs typeface="Times New Roman" panose="02020603050405020304" pitchFamily="18" charset="0"/>
                <a:sym typeface="Arial MT Pro"/>
              </a:rPr>
              <a:t> &amp; </a:t>
            </a: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logout.php</a:t>
            </a:r>
            <a:r>
              <a:rPr lang="en-US"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Đăng</a:t>
            </a:r>
            <a:r>
              <a:rPr lang="en-US"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nhập</a:t>
            </a:r>
            <a:r>
              <a:rPr lang="en-US" dirty="0">
                <a:solidFill>
                  <a:srgbClr val="FFFFFF"/>
                </a:solidFill>
                <a:latin typeface="Times New Roman" panose="02020603050405020304" pitchFamily="18" charset="0"/>
                <a:ea typeface="Arial MT Pro"/>
                <a:cs typeface="Times New Roman" panose="02020603050405020304" pitchFamily="18" charset="0"/>
                <a:sym typeface="Arial MT Pro"/>
              </a:rPr>
              <a:t>/</a:t>
            </a: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đăng</a:t>
            </a:r>
            <a:r>
              <a:rPr lang="en-US"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xuất</a:t>
            </a:r>
            <a:endParaRPr lang="en-US" dirty="0">
              <a:solidFill>
                <a:srgbClr val="FFFFFF"/>
              </a:solidFill>
              <a:latin typeface="Times New Roman" panose="02020603050405020304" pitchFamily="18" charset="0"/>
              <a:ea typeface="Arial MT Pro"/>
              <a:cs typeface="Times New Roman" panose="02020603050405020304" pitchFamily="18" charset="0"/>
              <a:sym typeface="Arial MT Pro"/>
            </a:endParaRPr>
          </a:p>
          <a:p>
            <a:pPr marL="259080" lvl="1" indent="-129540" algn="l">
              <a:spcBef>
                <a:spcPct val="0"/>
              </a:spcBef>
              <a:buFont typeface="Arial"/>
              <a:buChar char="•"/>
            </a:pP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database.php</a:t>
            </a:r>
            <a:r>
              <a:rPr lang="en-US"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Kết</a:t>
            </a:r>
            <a:r>
              <a:rPr lang="en-US"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nối</a:t>
            </a:r>
            <a:r>
              <a:rPr lang="en-US" dirty="0">
                <a:solidFill>
                  <a:srgbClr val="FFFFFF"/>
                </a:solidFill>
                <a:latin typeface="Times New Roman" panose="02020603050405020304" pitchFamily="18" charset="0"/>
                <a:ea typeface="Arial MT Pro"/>
                <a:cs typeface="Times New Roman" panose="02020603050405020304" pitchFamily="18" charset="0"/>
                <a:sym typeface="Arial MT Pro"/>
              </a:rPr>
              <a:t> CSDL</a:t>
            </a:r>
          </a:p>
        </p:txBody>
      </p:sp>
      <p:sp>
        <p:nvSpPr>
          <p:cNvPr id="28" name="TextBox 28"/>
          <p:cNvSpPr txBox="1"/>
          <p:nvPr/>
        </p:nvSpPr>
        <p:spPr>
          <a:xfrm>
            <a:off x="5833429" y="5393641"/>
            <a:ext cx="2550683" cy="2769989"/>
          </a:xfrm>
          <a:prstGeom prst="rect">
            <a:avLst/>
          </a:prstGeom>
        </p:spPr>
        <p:txBody>
          <a:bodyPr wrap="square" lIns="0" tIns="0" rIns="0" bIns="0" rtlCol="0" anchor="t">
            <a:spAutoFit/>
          </a:bodyPr>
          <a:lstStyle/>
          <a:p>
            <a:pPr marL="259080" lvl="1" indent="-129540" algn="l">
              <a:spcBef>
                <a:spcPct val="0"/>
              </a:spcBef>
              <a:buFont typeface="Arial"/>
              <a:buChar char="•"/>
            </a:pP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inventory.php</a:t>
            </a:r>
            <a:r>
              <a:rPr lang="en-US" dirty="0">
                <a:solidFill>
                  <a:srgbClr val="FFFFFF"/>
                </a:solidFill>
                <a:latin typeface="Times New Roman" panose="02020603050405020304" pitchFamily="18" charset="0"/>
                <a:ea typeface="Arial MT Pro"/>
                <a:cs typeface="Times New Roman" panose="02020603050405020304" pitchFamily="18" charset="0"/>
                <a:sym typeface="Arial MT Pro"/>
              </a:rPr>
              <a:t>: Quản </a:t>
            </a: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lý</a:t>
            </a:r>
            <a:r>
              <a:rPr lang="en-US"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kho</a:t>
            </a:r>
            <a:r>
              <a:rPr lang="en-US"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nguyên</a:t>
            </a:r>
            <a:r>
              <a:rPr lang="en-US"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liệu</a:t>
            </a:r>
            <a:endParaRPr lang="en-US" dirty="0">
              <a:solidFill>
                <a:srgbClr val="FFFFFF"/>
              </a:solidFill>
              <a:latin typeface="Times New Roman" panose="02020603050405020304" pitchFamily="18" charset="0"/>
              <a:ea typeface="Arial MT Pro"/>
              <a:cs typeface="Times New Roman" panose="02020603050405020304" pitchFamily="18" charset="0"/>
              <a:sym typeface="Arial MT Pro"/>
            </a:endParaRPr>
          </a:p>
          <a:p>
            <a:pPr marL="259080" lvl="1" indent="-129540" algn="l">
              <a:spcBef>
                <a:spcPct val="0"/>
              </a:spcBef>
              <a:buFont typeface="Arial"/>
              <a:buChar char="•"/>
            </a:pP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reports.php</a:t>
            </a:r>
            <a:r>
              <a:rPr lang="en-US"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Thống</a:t>
            </a:r>
            <a:r>
              <a:rPr lang="en-US"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kê</a:t>
            </a:r>
            <a:r>
              <a:rPr lang="en-US"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doanh</a:t>
            </a:r>
            <a:r>
              <a:rPr lang="en-US"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thu</a:t>
            </a:r>
            <a:endParaRPr lang="en-US" dirty="0">
              <a:solidFill>
                <a:srgbClr val="FFFFFF"/>
              </a:solidFill>
              <a:latin typeface="Times New Roman" panose="02020603050405020304" pitchFamily="18" charset="0"/>
              <a:ea typeface="Arial MT Pro"/>
              <a:cs typeface="Times New Roman" panose="02020603050405020304" pitchFamily="18" charset="0"/>
              <a:sym typeface="Arial MT Pro"/>
            </a:endParaRPr>
          </a:p>
          <a:p>
            <a:pPr marL="259080" lvl="1" indent="-129540" algn="l">
              <a:spcBef>
                <a:spcPct val="0"/>
              </a:spcBef>
              <a:buFont typeface="Arial"/>
              <a:buChar char="•"/>
            </a:pP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staff.php</a:t>
            </a:r>
            <a:r>
              <a:rPr lang="en-US" dirty="0">
                <a:solidFill>
                  <a:srgbClr val="FFFFFF"/>
                </a:solidFill>
                <a:latin typeface="Times New Roman" panose="02020603050405020304" pitchFamily="18" charset="0"/>
                <a:ea typeface="Arial MT Pro"/>
                <a:cs typeface="Times New Roman" panose="02020603050405020304" pitchFamily="18" charset="0"/>
                <a:sym typeface="Arial MT Pro"/>
              </a:rPr>
              <a:t>: Quản </a:t>
            </a: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lý</a:t>
            </a:r>
            <a:r>
              <a:rPr lang="en-US"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nhân</a:t>
            </a:r>
            <a:r>
              <a:rPr lang="en-US"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viên</a:t>
            </a:r>
            <a:endParaRPr lang="en-US" dirty="0">
              <a:solidFill>
                <a:srgbClr val="FFFFFF"/>
              </a:solidFill>
              <a:latin typeface="Times New Roman" panose="02020603050405020304" pitchFamily="18" charset="0"/>
              <a:ea typeface="Arial MT Pro"/>
              <a:cs typeface="Times New Roman" panose="02020603050405020304" pitchFamily="18" charset="0"/>
              <a:sym typeface="Arial MT Pro"/>
            </a:endParaRPr>
          </a:p>
          <a:p>
            <a:pPr marL="259080" lvl="1" indent="-129540" algn="l">
              <a:spcBef>
                <a:spcPct val="0"/>
              </a:spcBef>
              <a:buFont typeface="Arial"/>
              <a:buChar char="•"/>
            </a:pP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database.sql</a:t>
            </a:r>
            <a:r>
              <a:rPr lang="en-US"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Cấu</a:t>
            </a:r>
            <a:r>
              <a:rPr lang="en-US"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trúc</a:t>
            </a:r>
            <a:r>
              <a:rPr lang="en-US" dirty="0">
                <a:solidFill>
                  <a:srgbClr val="FFFFFF"/>
                </a:solidFill>
                <a:latin typeface="Times New Roman" panose="02020603050405020304" pitchFamily="18" charset="0"/>
                <a:ea typeface="Arial MT Pro"/>
                <a:cs typeface="Times New Roman" panose="02020603050405020304" pitchFamily="18" charset="0"/>
                <a:sym typeface="Arial MT Pro"/>
              </a:rPr>
              <a:t> CSDL</a:t>
            </a:r>
          </a:p>
          <a:p>
            <a:pPr marL="259080" lvl="1" indent="-129540" algn="l">
              <a:spcBef>
                <a:spcPct val="0"/>
              </a:spcBef>
              <a:buFont typeface="Arial"/>
              <a:buChar char="•"/>
            </a:pP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index.php</a:t>
            </a:r>
            <a:r>
              <a:rPr lang="en-US" dirty="0">
                <a:solidFill>
                  <a:srgbClr val="FFFFFF"/>
                </a:solidFill>
                <a:latin typeface="Times New Roman" panose="02020603050405020304" pitchFamily="18" charset="0"/>
                <a:ea typeface="Arial MT Pro"/>
                <a:cs typeface="Times New Roman" panose="02020603050405020304" pitchFamily="18" charset="0"/>
                <a:sym typeface="Arial MT Pro"/>
              </a:rPr>
              <a:t>: Trang </a:t>
            </a: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chủ</a:t>
            </a:r>
            <a:r>
              <a:rPr lang="en-US"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tổng</a:t>
            </a:r>
            <a:r>
              <a:rPr lang="en-US"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dirty="0" err="1">
                <a:solidFill>
                  <a:srgbClr val="FFFFFF"/>
                </a:solidFill>
                <a:latin typeface="Times New Roman" panose="02020603050405020304" pitchFamily="18" charset="0"/>
                <a:ea typeface="Arial MT Pro"/>
                <a:cs typeface="Times New Roman" panose="02020603050405020304" pitchFamily="18" charset="0"/>
                <a:sym typeface="Arial MT Pro"/>
              </a:rPr>
              <a:t>quan</a:t>
            </a:r>
            <a:endParaRPr lang="en-US" dirty="0">
              <a:solidFill>
                <a:srgbClr val="FFFFFF"/>
              </a:solidFill>
              <a:latin typeface="Times New Roman" panose="02020603050405020304" pitchFamily="18" charset="0"/>
              <a:ea typeface="Arial MT Pro"/>
              <a:cs typeface="Times New Roman" panose="02020603050405020304" pitchFamily="18" charset="0"/>
              <a:sym typeface="Arial MT Pro"/>
            </a:endParaRPr>
          </a:p>
        </p:txBody>
      </p:sp>
      <p:pic>
        <p:nvPicPr>
          <p:cNvPr id="1026" name="Picture 2" descr="Tải miễn phí Hai Người Kinh Doanh Bắt Tay Nhau Trước Nền đen Nền | JPG  chuyên nghiệp - Pikbest">
            <a:extLst>
              <a:ext uri="{FF2B5EF4-FFF2-40B4-BE49-F238E27FC236}">
                <a16:creationId xmlns:a16="http://schemas.microsoft.com/office/drawing/2014/main" id="{CA566F5F-C29F-CFDA-129E-D795A0511B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3600" y="4411065"/>
            <a:ext cx="7466936" cy="4181484"/>
          </a:xfrm>
          <a:prstGeom prst="round2Diag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41519"/>
        </a:solidFill>
        <a:effectLst/>
      </p:bgPr>
    </p:bg>
    <p:spTree>
      <p:nvGrpSpPr>
        <p:cNvPr id="1" name=""/>
        <p:cNvGrpSpPr/>
        <p:nvPr/>
      </p:nvGrpSpPr>
      <p:grpSpPr>
        <a:xfrm>
          <a:off x="0" y="0"/>
          <a:ext cx="0" cy="0"/>
          <a:chOff x="0" y="0"/>
          <a:chExt cx="0" cy="0"/>
        </a:xfrm>
      </p:grpSpPr>
      <p:grpSp>
        <p:nvGrpSpPr>
          <p:cNvPr id="6" name="Group 6"/>
          <p:cNvGrpSpPr/>
          <p:nvPr/>
        </p:nvGrpSpPr>
        <p:grpSpPr>
          <a:xfrm>
            <a:off x="2362200" y="1820710"/>
            <a:ext cx="6964686" cy="6645580"/>
            <a:chOff x="0" y="0"/>
            <a:chExt cx="1834320" cy="1750276"/>
          </a:xfrm>
        </p:grpSpPr>
        <p:sp>
          <p:nvSpPr>
            <p:cNvPr id="7" name="Freeform 7"/>
            <p:cNvSpPr/>
            <p:nvPr/>
          </p:nvSpPr>
          <p:spPr>
            <a:xfrm>
              <a:off x="0" y="0"/>
              <a:ext cx="1834320" cy="1750276"/>
            </a:xfrm>
            <a:custGeom>
              <a:avLst/>
              <a:gdLst/>
              <a:ahLst/>
              <a:cxnLst/>
              <a:rect l="l" t="t" r="r" b="b"/>
              <a:pathLst>
                <a:path w="1834320" h="1750276">
                  <a:moveTo>
                    <a:pt x="56691" y="0"/>
                  </a:moveTo>
                  <a:lnTo>
                    <a:pt x="1777629" y="0"/>
                  </a:lnTo>
                  <a:cubicBezTo>
                    <a:pt x="1808939" y="0"/>
                    <a:pt x="1834320" y="25382"/>
                    <a:pt x="1834320" y="56691"/>
                  </a:cubicBezTo>
                  <a:lnTo>
                    <a:pt x="1834320" y="1693585"/>
                  </a:lnTo>
                  <a:cubicBezTo>
                    <a:pt x="1834320" y="1708620"/>
                    <a:pt x="1828348" y="1723040"/>
                    <a:pt x="1817716" y="1733672"/>
                  </a:cubicBezTo>
                  <a:cubicBezTo>
                    <a:pt x="1807084" y="1744303"/>
                    <a:pt x="1792664" y="1750276"/>
                    <a:pt x="1777629" y="1750276"/>
                  </a:cubicBezTo>
                  <a:lnTo>
                    <a:pt x="56691" y="1750276"/>
                  </a:lnTo>
                  <a:cubicBezTo>
                    <a:pt x="41656" y="1750276"/>
                    <a:pt x="27236" y="1744303"/>
                    <a:pt x="16605" y="1733672"/>
                  </a:cubicBezTo>
                  <a:cubicBezTo>
                    <a:pt x="5973" y="1723040"/>
                    <a:pt x="0" y="1708620"/>
                    <a:pt x="0" y="1693585"/>
                  </a:cubicBezTo>
                  <a:lnTo>
                    <a:pt x="0" y="56691"/>
                  </a:lnTo>
                  <a:cubicBezTo>
                    <a:pt x="0" y="41656"/>
                    <a:pt x="5973" y="27236"/>
                    <a:pt x="16605" y="16605"/>
                  </a:cubicBezTo>
                  <a:cubicBezTo>
                    <a:pt x="27236" y="5973"/>
                    <a:pt x="41656" y="0"/>
                    <a:pt x="56691" y="0"/>
                  </a:cubicBezTo>
                  <a:close/>
                </a:path>
              </a:pathLst>
            </a:custGeom>
            <a:solidFill>
              <a:srgbClr val="202127"/>
            </a:solidFill>
          </p:spPr>
        </p:sp>
        <p:sp>
          <p:nvSpPr>
            <p:cNvPr id="8" name="TextBox 8"/>
            <p:cNvSpPr txBox="1"/>
            <p:nvPr/>
          </p:nvSpPr>
          <p:spPr>
            <a:xfrm>
              <a:off x="0" y="19050"/>
              <a:ext cx="1834320" cy="1731226"/>
            </a:xfrm>
            <a:prstGeom prst="rect">
              <a:avLst/>
            </a:prstGeom>
          </p:spPr>
          <p:txBody>
            <a:bodyPr lIns="50800" tIns="50800" rIns="50800" bIns="50800" rtlCol="0" anchor="ctr"/>
            <a:lstStyle/>
            <a:p>
              <a:pPr marL="0" lvl="0" indent="0" algn="ctr">
                <a:lnSpc>
                  <a:spcPts val="1387"/>
                </a:lnSpc>
              </a:pPr>
              <a:endParaRPr/>
            </a:p>
          </p:txBody>
        </p:sp>
      </p:grpSp>
      <p:grpSp>
        <p:nvGrpSpPr>
          <p:cNvPr id="9" name="Group 9"/>
          <p:cNvGrpSpPr/>
          <p:nvPr/>
        </p:nvGrpSpPr>
        <p:grpSpPr>
          <a:xfrm>
            <a:off x="9718232" y="4791513"/>
            <a:ext cx="5434050" cy="705218"/>
            <a:chOff x="0" y="0"/>
            <a:chExt cx="1417549" cy="183966"/>
          </a:xfrm>
        </p:grpSpPr>
        <p:sp>
          <p:nvSpPr>
            <p:cNvPr id="10" name="Freeform 10"/>
            <p:cNvSpPr/>
            <p:nvPr/>
          </p:nvSpPr>
          <p:spPr>
            <a:xfrm>
              <a:off x="0" y="0"/>
              <a:ext cx="1417549" cy="183966"/>
            </a:xfrm>
            <a:custGeom>
              <a:avLst/>
              <a:gdLst/>
              <a:ahLst/>
              <a:cxnLst/>
              <a:rect l="l" t="t" r="r" b="b"/>
              <a:pathLst>
                <a:path w="1417549" h="183966">
                  <a:moveTo>
                    <a:pt x="29919" y="0"/>
                  </a:moveTo>
                  <a:lnTo>
                    <a:pt x="1387630" y="0"/>
                  </a:lnTo>
                  <a:cubicBezTo>
                    <a:pt x="1404154" y="0"/>
                    <a:pt x="1417549" y="13395"/>
                    <a:pt x="1417549" y="29919"/>
                  </a:cubicBezTo>
                  <a:lnTo>
                    <a:pt x="1417549" y="154047"/>
                  </a:lnTo>
                  <a:cubicBezTo>
                    <a:pt x="1417549" y="170571"/>
                    <a:pt x="1404154" y="183966"/>
                    <a:pt x="1387630" y="183966"/>
                  </a:cubicBezTo>
                  <a:lnTo>
                    <a:pt x="29919" y="183966"/>
                  </a:lnTo>
                  <a:cubicBezTo>
                    <a:pt x="13395" y="183966"/>
                    <a:pt x="0" y="170571"/>
                    <a:pt x="0" y="154047"/>
                  </a:cubicBezTo>
                  <a:lnTo>
                    <a:pt x="0" y="29919"/>
                  </a:lnTo>
                  <a:cubicBezTo>
                    <a:pt x="0" y="13395"/>
                    <a:pt x="13395" y="0"/>
                    <a:pt x="29919" y="0"/>
                  </a:cubicBezTo>
                  <a:close/>
                </a:path>
              </a:pathLst>
            </a:custGeom>
            <a:ln w="9525" cap="rnd">
              <a:solidFill>
                <a:srgbClr val="FFFFFF"/>
              </a:solidFill>
              <a:prstDash val="solid"/>
              <a:round/>
            </a:ln>
          </p:spPr>
        </p:sp>
        <p:sp>
          <p:nvSpPr>
            <p:cNvPr id="11" name="TextBox 11"/>
            <p:cNvSpPr txBox="1"/>
            <p:nvPr/>
          </p:nvSpPr>
          <p:spPr>
            <a:xfrm>
              <a:off x="0" y="19050"/>
              <a:ext cx="1417549" cy="164916"/>
            </a:xfrm>
            <a:prstGeom prst="rect">
              <a:avLst/>
            </a:prstGeom>
          </p:spPr>
          <p:txBody>
            <a:bodyPr lIns="50800" tIns="50800" rIns="50800" bIns="50800" rtlCol="0" anchor="ctr"/>
            <a:lstStyle/>
            <a:p>
              <a:pPr marL="0" lvl="0" indent="0" algn="ctr">
                <a:lnSpc>
                  <a:spcPts val="1387"/>
                </a:lnSpc>
              </a:pPr>
              <a:endParaRPr/>
            </a:p>
          </p:txBody>
        </p:sp>
      </p:grpSp>
      <p:grpSp>
        <p:nvGrpSpPr>
          <p:cNvPr id="12" name="Group 12"/>
          <p:cNvGrpSpPr/>
          <p:nvPr/>
        </p:nvGrpSpPr>
        <p:grpSpPr>
          <a:xfrm>
            <a:off x="9718232" y="1820710"/>
            <a:ext cx="5434050" cy="2523128"/>
            <a:chOff x="0" y="0"/>
            <a:chExt cx="1417549" cy="658194"/>
          </a:xfrm>
        </p:grpSpPr>
        <p:sp>
          <p:nvSpPr>
            <p:cNvPr id="13" name="Freeform 13"/>
            <p:cNvSpPr/>
            <p:nvPr/>
          </p:nvSpPr>
          <p:spPr>
            <a:xfrm>
              <a:off x="0" y="0"/>
              <a:ext cx="1417549" cy="658194"/>
            </a:xfrm>
            <a:custGeom>
              <a:avLst/>
              <a:gdLst/>
              <a:ahLst/>
              <a:cxnLst/>
              <a:rect l="l" t="t" r="r" b="b"/>
              <a:pathLst>
                <a:path w="1417549" h="658194">
                  <a:moveTo>
                    <a:pt x="29919" y="0"/>
                  </a:moveTo>
                  <a:lnTo>
                    <a:pt x="1387630" y="0"/>
                  </a:lnTo>
                  <a:cubicBezTo>
                    <a:pt x="1404154" y="0"/>
                    <a:pt x="1417549" y="13395"/>
                    <a:pt x="1417549" y="29919"/>
                  </a:cubicBezTo>
                  <a:lnTo>
                    <a:pt x="1417549" y="628275"/>
                  </a:lnTo>
                  <a:cubicBezTo>
                    <a:pt x="1417549" y="644799"/>
                    <a:pt x="1404154" y="658194"/>
                    <a:pt x="1387630" y="658194"/>
                  </a:cubicBezTo>
                  <a:lnTo>
                    <a:pt x="29919" y="658194"/>
                  </a:lnTo>
                  <a:cubicBezTo>
                    <a:pt x="13395" y="658194"/>
                    <a:pt x="0" y="644799"/>
                    <a:pt x="0" y="628275"/>
                  </a:cubicBezTo>
                  <a:lnTo>
                    <a:pt x="0" y="29919"/>
                  </a:lnTo>
                  <a:cubicBezTo>
                    <a:pt x="0" y="13395"/>
                    <a:pt x="13395" y="0"/>
                    <a:pt x="29919" y="0"/>
                  </a:cubicBezTo>
                  <a:close/>
                </a:path>
              </a:pathLst>
            </a:custGeom>
            <a:gradFill rotWithShape="1">
              <a:gsLst>
                <a:gs pos="0">
                  <a:srgbClr val="0C4A5B">
                    <a:alpha val="100000"/>
                  </a:srgbClr>
                </a:gs>
                <a:gs pos="100000">
                  <a:srgbClr val="27DDDF">
                    <a:alpha val="100000"/>
                  </a:srgbClr>
                </a:gs>
              </a:gsLst>
              <a:lin ang="2700000"/>
            </a:gradFill>
          </p:spPr>
        </p:sp>
        <p:sp>
          <p:nvSpPr>
            <p:cNvPr id="14" name="TextBox 14"/>
            <p:cNvSpPr txBox="1"/>
            <p:nvPr/>
          </p:nvSpPr>
          <p:spPr>
            <a:xfrm>
              <a:off x="0" y="19050"/>
              <a:ext cx="1417549" cy="639144"/>
            </a:xfrm>
            <a:prstGeom prst="rect">
              <a:avLst/>
            </a:prstGeom>
          </p:spPr>
          <p:txBody>
            <a:bodyPr lIns="50800" tIns="50800" rIns="50800" bIns="50800" rtlCol="0" anchor="ctr"/>
            <a:lstStyle/>
            <a:p>
              <a:pPr marL="0" lvl="0" indent="0" algn="ctr">
                <a:lnSpc>
                  <a:spcPts val="1387"/>
                </a:lnSpc>
              </a:pPr>
              <a:endParaRPr/>
            </a:p>
          </p:txBody>
        </p:sp>
      </p:grpSp>
      <p:grpSp>
        <p:nvGrpSpPr>
          <p:cNvPr id="15" name="Group 15"/>
          <p:cNvGrpSpPr/>
          <p:nvPr/>
        </p:nvGrpSpPr>
        <p:grpSpPr>
          <a:xfrm>
            <a:off x="9718232" y="5781366"/>
            <a:ext cx="5434050" cy="705218"/>
            <a:chOff x="0" y="0"/>
            <a:chExt cx="1417549" cy="183966"/>
          </a:xfrm>
        </p:grpSpPr>
        <p:sp>
          <p:nvSpPr>
            <p:cNvPr id="16" name="Freeform 16"/>
            <p:cNvSpPr/>
            <p:nvPr/>
          </p:nvSpPr>
          <p:spPr>
            <a:xfrm>
              <a:off x="0" y="0"/>
              <a:ext cx="1417549" cy="183966"/>
            </a:xfrm>
            <a:custGeom>
              <a:avLst/>
              <a:gdLst/>
              <a:ahLst/>
              <a:cxnLst/>
              <a:rect l="l" t="t" r="r" b="b"/>
              <a:pathLst>
                <a:path w="1417549" h="183966">
                  <a:moveTo>
                    <a:pt x="29919" y="0"/>
                  </a:moveTo>
                  <a:lnTo>
                    <a:pt x="1387630" y="0"/>
                  </a:lnTo>
                  <a:cubicBezTo>
                    <a:pt x="1404154" y="0"/>
                    <a:pt x="1417549" y="13395"/>
                    <a:pt x="1417549" y="29919"/>
                  </a:cubicBezTo>
                  <a:lnTo>
                    <a:pt x="1417549" y="154047"/>
                  </a:lnTo>
                  <a:cubicBezTo>
                    <a:pt x="1417549" y="170571"/>
                    <a:pt x="1404154" y="183966"/>
                    <a:pt x="1387630" y="183966"/>
                  </a:cubicBezTo>
                  <a:lnTo>
                    <a:pt x="29919" y="183966"/>
                  </a:lnTo>
                  <a:cubicBezTo>
                    <a:pt x="13395" y="183966"/>
                    <a:pt x="0" y="170571"/>
                    <a:pt x="0" y="154047"/>
                  </a:cubicBezTo>
                  <a:lnTo>
                    <a:pt x="0" y="29919"/>
                  </a:lnTo>
                  <a:cubicBezTo>
                    <a:pt x="0" y="13395"/>
                    <a:pt x="13395" y="0"/>
                    <a:pt x="29919" y="0"/>
                  </a:cubicBezTo>
                  <a:close/>
                </a:path>
              </a:pathLst>
            </a:custGeom>
            <a:ln w="9525" cap="rnd">
              <a:solidFill>
                <a:srgbClr val="FFFFFF"/>
              </a:solidFill>
              <a:prstDash val="solid"/>
              <a:round/>
            </a:ln>
          </p:spPr>
        </p:sp>
        <p:sp>
          <p:nvSpPr>
            <p:cNvPr id="17" name="TextBox 17"/>
            <p:cNvSpPr txBox="1"/>
            <p:nvPr/>
          </p:nvSpPr>
          <p:spPr>
            <a:xfrm>
              <a:off x="0" y="19050"/>
              <a:ext cx="1417549" cy="164916"/>
            </a:xfrm>
            <a:prstGeom prst="rect">
              <a:avLst/>
            </a:prstGeom>
          </p:spPr>
          <p:txBody>
            <a:bodyPr lIns="50800" tIns="50800" rIns="50800" bIns="50800" rtlCol="0" anchor="ctr"/>
            <a:lstStyle/>
            <a:p>
              <a:pPr marL="0" lvl="0" indent="0" algn="ctr">
                <a:lnSpc>
                  <a:spcPts val="1387"/>
                </a:lnSpc>
              </a:pPr>
              <a:endParaRPr/>
            </a:p>
          </p:txBody>
        </p:sp>
      </p:grpSp>
      <p:grpSp>
        <p:nvGrpSpPr>
          <p:cNvPr id="18" name="Group 18"/>
          <p:cNvGrpSpPr/>
          <p:nvPr/>
        </p:nvGrpSpPr>
        <p:grpSpPr>
          <a:xfrm>
            <a:off x="9718232" y="6771218"/>
            <a:ext cx="5434050" cy="705218"/>
            <a:chOff x="0" y="0"/>
            <a:chExt cx="1417549" cy="183966"/>
          </a:xfrm>
        </p:grpSpPr>
        <p:sp>
          <p:nvSpPr>
            <p:cNvPr id="19" name="Freeform 19"/>
            <p:cNvSpPr/>
            <p:nvPr/>
          </p:nvSpPr>
          <p:spPr>
            <a:xfrm>
              <a:off x="0" y="0"/>
              <a:ext cx="1417549" cy="183966"/>
            </a:xfrm>
            <a:custGeom>
              <a:avLst/>
              <a:gdLst/>
              <a:ahLst/>
              <a:cxnLst/>
              <a:rect l="l" t="t" r="r" b="b"/>
              <a:pathLst>
                <a:path w="1417549" h="183966">
                  <a:moveTo>
                    <a:pt x="29919" y="0"/>
                  </a:moveTo>
                  <a:lnTo>
                    <a:pt x="1387630" y="0"/>
                  </a:lnTo>
                  <a:cubicBezTo>
                    <a:pt x="1404154" y="0"/>
                    <a:pt x="1417549" y="13395"/>
                    <a:pt x="1417549" y="29919"/>
                  </a:cubicBezTo>
                  <a:lnTo>
                    <a:pt x="1417549" y="154047"/>
                  </a:lnTo>
                  <a:cubicBezTo>
                    <a:pt x="1417549" y="170571"/>
                    <a:pt x="1404154" y="183966"/>
                    <a:pt x="1387630" y="183966"/>
                  </a:cubicBezTo>
                  <a:lnTo>
                    <a:pt x="29919" y="183966"/>
                  </a:lnTo>
                  <a:cubicBezTo>
                    <a:pt x="13395" y="183966"/>
                    <a:pt x="0" y="170571"/>
                    <a:pt x="0" y="154047"/>
                  </a:cubicBezTo>
                  <a:lnTo>
                    <a:pt x="0" y="29919"/>
                  </a:lnTo>
                  <a:cubicBezTo>
                    <a:pt x="0" y="13395"/>
                    <a:pt x="13395" y="0"/>
                    <a:pt x="29919" y="0"/>
                  </a:cubicBezTo>
                  <a:close/>
                </a:path>
              </a:pathLst>
            </a:custGeom>
            <a:ln w="9525" cap="rnd">
              <a:solidFill>
                <a:srgbClr val="FFFFFF"/>
              </a:solidFill>
              <a:prstDash val="solid"/>
              <a:round/>
            </a:ln>
          </p:spPr>
        </p:sp>
        <p:sp>
          <p:nvSpPr>
            <p:cNvPr id="20" name="TextBox 20"/>
            <p:cNvSpPr txBox="1"/>
            <p:nvPr/>
          </p:nvSpPr>
          <p:spPr>
            <a:xfrm>
              <a:off x="0" y="19050"/>
              <a:ext cx="1417549" cy="164916"/>
            </a:xfrm>
            <a:prstGeom prst="rect">
              <a:avLst/>
            </a:prstGeom>
          </p:spPr>
          <p:txBody>
            <a:bodyPr lIns="50800" tIns="50800" rIns="50800" bIns="50800" rtlCol="0" anchor="ctr"/>
            <a:lstStyle/>
            <a:p>
              <a:pPr marL="0" lvl="0" indent="0" algn="ctr">
                <a:lnSpc>
                  <a:spcPts val="1387"/>
                </a:lnSpc>
              </a:pPr>
              <a:endParaRPr/>
            </a:p>
          </p:txBody>
        </p:sp>
      </p:grpSp>
      <p:grpSp>
        <p:nvGrpSpPr>
          <p:cNvPr id="21" name="Group 21"/>
          <p:cNvGrpSpPr/>
          <p:nvPr/>
        </p:nvGrpSpPr>
        <p:grpSpPr>
          <a:xfrm>
            <a:off x="9718232" y="7761071"/>
            <a:ext cx="5434050" cy="705218"/>
            <a:chOff x="0" y="0"/>
            <a:chExt cx="1417549" cy="183966"/>
          </a:xfrm>
        </p:grpSpPr>
        <p:sp>
          <p:nvSpPr>
            <p:cNvPr id="22" name="Freeform 22"/>
            <p:cNvSpPr/>
            <p:nvPr/>
          </p:nvSpPr>
          <p:spPr>
            <a:xfrm>
              <a:off x="0" y="0"/>
              <a:ext cx="1417549" cy="183966"/>
            </a:xfrm>
            <a:custGeom>
              <a:avLst/>
              <a:gdLst/>
              <a:ahLst/>
              <a:cxnLst/>
              <a:rect l="l" t="t" r="r" b="b"/>
              <a:pathLst>
                <a:path w="1417549" h="183966">
                  <a:moveTo>
                    <a:pt x="29919" y="0"/>
                  </a:moveTo>
                  <a:lnTo>
                    <a:pt x="1387630" y="0"/>
                  </a:lnTo>
                  <a:cubicBezTo>
                    <a:pt x="1404154" y="0"/>
                    <a:pt x="1417549" y="13395"/>
                    <a:pt x="1417549" y="29919"/>
                  </a:cubicBezTo>
                  <a:lnTo>
                    <a:pt x="1417549" y="154047"/>
                  </a:lnTo>
                  <a:cubicBezTo>
                    <a:pt x="1417549" y="170571"/>
                    <a:pt x="1404154" y="183966"/>
                    <a:pt x="1387630" y="183966"/>
                  </a:cubicBezTo>
                  <a:lnTo>
                    <a:pt x="29919" y="183966"/>
                  </a:lnTo>
                  <a:cubicBezTo>
                    <a:pt x="13395" y="183966"/>
                    <a:pt x="0" y="170571"/>
                    <a:pt x="0" y="154047"/>
                  </a:cubicBezTo>
                  <a:lnTo>
                    <a:pt x="0" y="29919"/>
                  </a:lnTo>
                  <a:cubicBezTo>
                    <a:pt x="0" y="13395"/>
                    <a:pt x="13395" y="0"/>
                    <a:pt x="29919" y="0"/>
                  </a:cubicBezTo>
                  <a:close/>
                </a:path>
              </a:pathLst>
            </a:custGeom>
            <a:ln w="9525" cap="rnd">
              <a:solidFill>
                <a:srgbClr val="FFFFFF"/>
              </a:solidFill>
              <a:prstDash val="solid"/>
              <a:round/>
            </a:ln>
          </p:spPr>
        </p:sp>
        <p:sp>
          <p:nvSpPr>
            <p:cNvPr id="23" name="TextBox 23"/>
            <p:cNvSpPr txBox="1"/>
            <p:nvPr/>
          </p:nvSpPr>
          <p:spPr>
            <a:xfrm>
              <a:off x="0" y="19050"/>
              <a:ext cx="1417549" cy="164916"/>
            </a:xfrm>
            <a:prstGeom prst="rect">
              <a:avLst/>
            </a:prstGeom>
          </p:spPr>
          <p:txBody>
            <a:bodyPr lIns="50800" tIns="50800" rIns="50800" bIns="50800" rtlCol="0" anchor="ctr"/>
            <a:lstStyle/>
            <a:p>
              <a:pPr marL="0" lvl="0" indent="0" algn="ctr">
                <a:lnSpc>
                  <a:spcPts val="1387"/>
                </a:lnSpc>
              </a:pPr>
              <a:endParaRPr/>
            </a:p>
          </p:txBody>
        </p:sp>
      </p:grpSp>
      <p:sp>
        <p:nvSpPr>
          <p:cNvPr id="24" name="Freeform 24"/>
          <p:cNvSpPr/>
          <p:nvPr/>
        </p:nvSpPr>
        <p:spPr>
          <a:xfrm>
            <a:off x="13107790" y="2634941"/>
            <a:ext cx="1388064" cy="1421833"/>
          </a:xfrm>
          <a:custGeom>
            <a:avLst/>
            <a:gdLst/>
            <a:ahLst/>
            <a:cxnLst/>
            <a:rect l="l" t="t" r="r" b="b"/>
            <a:pathLst>
              <a:path w="1388064" h="1421833">
                <a:moveTo>
                  <a:pt x="0" y="0"/>
                </a:moveTo>
                <a:lnTo>
                  <a:pt x="1388064" y="0"/>
                </a:lnTo>
                <a:lnTo>
                  <a:pt x="1388064" y="1421832"/>
                </a:lnTo>
                <a:lnTo>
                  <a:pt x="0" y="1421832"/>
                </a:lnTo>
                <a:lnTo>
                  <a:pt x="0" y="0"/>
                </a:lnTo>
                <a:close/>
              </a:path>
            </a:pathLst>
          </a:custGeom>
          <a:blipFill>
            <a:blip r:embed="rId2"/>
            <a:stretch>
              <a:fillRect/>
            </a:stretch>
          </a:blipFill>
        </p:spPr>
      </p:sp>
      <p:sp>
        <p:nvSpPr>
          <p:cNvPr id="29" name="TextBox 29"/>
          <p:cNvSpPr txBox="1"/>
          <p:nvPr/>
        </p:nvSpPr>
        <p:spPr>
          <a:xfrm>
            <a:off x="10095687" y="4890283"/>
            <a:ext cx="3088392" cy="492443"/>
          </a:xfrm>
          <a:prstGeom prst="rect">
            <a:avLst/>
          </a:prstGeom>
        </p:spPr>
        <p:txBody>
          <a:bodyPr lIns="0" tIns="0" rIns="0" bIns="0" rtlCol="0" anchor="t">
            <a:spAutoFit/>
          </a:bodyPr>
          <a:lstStyle/>
          <a:p>
            <a:pPr marL="0" lvl="0" indent="0" algn="l"/>
            <a:r>
              <a:rPr lang="en-US" sz="1600" dirty="0" err="1">
                <a:solidFill>
                  <a:srgbClr val="FFFFFF"/>
                </a:solidFill>
                <a:latin typeface="Times New Roman" panose="02020603050405020304" pitchFamily="18" charset="0"/>
                <a:ea typeface="Arial MT Pro"/>
                <a:cs typeface="Times New Roman" panose="02020603050405020304" pitchFamily="18" charset="0"/>
                <a:sym typeface="Arial MT Pro"/>
              </a:rPr>
              <a:t>database.php</a:t>
            </a:r>
            <a:r>
              <a:rPr lang="en-US" sz="1600" dirty="0">
                <a:solidFill>
                  <a:srgbClr val="FFFFFF"/>
                </a:solidFill>
                <a:latin typeface="Times New Roman" panose="02020603050405020304" pitchFamily="18" charset="0"/>
                <a:ea typeface="Arial MT Pro"/>
                <a:cs typeface="Times New Roman" panose="02020603050405020304" pitchFamily="18" charset="0"/>
                <a:sym typeface="Arial MT Pro"/>
              </a:rPr>
              <a:t> / </a:t>
            </a:r>
            <a:r>
              <a:rPr lang="en-US" sz="1600" dirty="0" err="1">
                <a:solidFill>
                  <a:srgbClr val="FFFFFF"/>
                </a:solidFill>
                <a:latin typeface="Times New Roman" panose="02020603050405020304" pitchFamily="18" charset="0"/>
                <a:ea typeface="Arial MT Pro"/>
                <a:cs typeface="Times New Roman" panose="02020603050405020304" pitchFamily="18" charset="0"/>
                <a:sym typeface="Arial MT Pro"/>
              </a:rPr>
              <a:t>database.sql</a:t>
            </a:r>
            <a:r>
              <a:rPr lang="en-US" sz="1600"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sz="1600" dirty="0" err="1">
                <a:solidFill>
                  <a:srgbClr val="FFFFFF"/>
                </a:solidFill>
                <a:latin typeface="Times New Roman" panose="02020603050405020304" pitchFamily="18" charset="0"/>
                <a:ea typeface="Arial MT Pro"/>
                <a:cs typeface="Times New Roman" panose="02020603050405020304" pitchFamily="18" charset="0"/>
                <a:sym typeface="Arial MT Pro"/>
              </a:rPr>
              <a:t>Kết</a:t>
            </a:r>
            <a:r>
              <a:rPr lang="en-US" sz="1600"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sz="1600" dirty="0" err="1">
                <a:solidFill>
                  <a:srgbClr val="FFFFFF"/>
                </a:solidFill>
                <a:latin typeface="Times New Roman" panose="02020603050405020304" pitchFamily="18" charset="0"/>
                <a:ea typeface="Arial MT Pro"/>
                <a:cs typeface="Times New Roman" panose="02020603050405020304" pitchFamily="18" charset="0"/>
                <a:sym typeface="Arial MT Pro"/>
              </a:rPr>
              <a:t>nối</a:t>
            </a:r>
            <a:r>
              <a:rPr lang="en-US" sz="1600" dirty="0">
                <a:solidFill>
                  <a:srgbClr val="FFFFFF"/>
                </a:solidFill>
                <a:latin typeface="Times New Roman" panose="02020603050405020304" pitchFamily="18" charset="0"/>
                <a:ea typeface="Arial MT Pro"/>
                <a:cs typeface="Times New Roman" panose="02020603050405020304" pitchFamily="18" charset="0"/>
                <a:sym typeface="Arial MT Pro"/>
              </a:rPr>
              <a:t> &amp; </a:t>
            </a:r>
            <a:r>
              <a:rPr lang="en-US" sz="1600" dirty="0" err="1">
                <a:solidFill>
                  <a:srgbClr val="FFFFFF"/>
                </a:solidFill>
                <a:latin typeface="Times New Roman" panose="02020603050405020304" pitchFamily="18" charset="0"/>
                <a:ea typeface="Arial MT Pro"/>
                <a:cs typeface="Times New Roman" panose="02020603050405020304" pitchFamily="18" charset="0"/>
                <a:sym typeface="Arial MT Pro"/>
              </a:rPr>
              <a:t>cấu</a:t>
            </a:r>
            <a:r>
              <a:rPr lang="en-US" sz="1600"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sz="1600" dirty="0" err="1">
                <a:solidFill>
                  <a:srgbClr val="FFFFFF"/>
                </a:solidFill>
                <a:latin typeface="Times New Roman" panose="02020603050405020304" pitchFamily="18" charset="0"/>
                <a:ea typeface="Arial MT Pro"/>
                <a:cs typeface="Times New Roman" panose="02020603050405020304" pitchFamily="18" charset="0"/>
                <a:sym typeface="Arial MT Pro"/>
              </a:rPr>
              <a:t>trúc</a:t>
            </a:r>
            <a:r>
              <a:rPr lang="en-US" sz="1600" dirty="0">
                <a:solidFill>
                  <a:srgbClr val="FFFFFF"/>
                </a:solidFill>
                <a:latin typeface="Times New Roman" panose="02020603050405020304" pitchFamily="18" charset="0"/>
                <a:ea typeface="Arial MT Pro"/>
                <a:cs typeface="Times New Roman" panose="02020603050405020304" pitchFamily="18" charset="0"/>
                <a:sym typeface="Arial MT Pro"/>
              </a:rPr>
              <a:t> CSDL</a:t>
            </a:r>
          </a:p>
        </p:txBody>
      </p:sp>
      <p:sp>
        <p:nvSpPr>
          <p:cNvPr id="30" name="TextBox 30"/>
          <p:cNvSpPr txBox="1"/>
          <p:nvPr/>
        </p:nvSpPr>
        <p:spPr>
          <a:xfrm>
            <a:off x="10095687" y="5880135"/>
            <a:ext cx="3088392" cy="492443"/>
          </a:xfrm>
          <a:prstGeom prst="rect">
            <a:avLst/>
          </a:prstGeom>
        </p:spPr>
        <p:txBody>
          <a:bodyPr lIns="0" tIns="0" rIns="0" bIns="0" rtlCol="0" anchor="t">
            <a:spAutoFit/>
          </a:bodyPr>
          <a:lstStyle/>
          <a:p>
            <a:pPr marL="0" lvl="0" indent="0" algn="l"/>
            <a:r>
              <a:rPr lang="en-US" sz="1600" dirty="0" err="1">
                <a:solidFill>
                  <a:srgbClr val="FFFFFF"/>
                </a:solidFill>
                <a:latin typeface="Times New Roman" panose="02020603050405020304" pitchFamily="18" charset="0"/>
                <a:ea typeface="Arial MT Pro"/>
                <a:cs typeface="Times New Roman" panose="02020603050405020304" pitchFamily="18" charset="0"/>
                <a:sym typeface="Arial MT Pro"/>
              </a:rPr>
              <a:t>menu.php</a:t>
            </a:r>
            <a:r>
              <a:rPr lang="en-US" sz="1600" dirty="0">
                <a:solidFill>
                  <a:srgbClr val="FFFFFF"/>
                </a:solidFill>
                <a:latin typeface="Times New Roman" panose="02020603050405020304" pitchFamily="18" charset="0"/>
                <a:ea typeface="Arial MT Pro"/>
                <a:cs typeface="Times New Roman" panose="02020603050405020304" pitchFamily="18" charset="0"/>
                <a:sym typeface="Arial MT Pro"/>
              </a:rPr>
              <a:t> &amp; </a:t>
            </a:r>
            <a:r>
              <a:rPr lang="en-US" sz="1600" dirty="0" err="1">
                <a:solidFill>
                  <a:srgbClr val="FFFFFF"/>
                </a:solidFill>
                <a:latin typeface="Times New Roman" panose="02020603050405020304" pitchFamily="18" charset="0"/>
                <a:ea typeface="Arial MT Pro"/>
                <a:cs typeface="Times New Roman" panose="02020603050405020304" pitchFamily="18" charset="0"/>
                <a:sym typeface="Arial MT Pro"/>
              </a:rPr>
              <a:t>orders.php</a:t>
            </a:r>
            <a:r>
              <a:rPr lang="en-US" sz="1600" dirty="0">
                <a:solidFill>
                  <a:srgbClr val="FFFFFF"/>
                </a:solidFill>
                <a:latin typeface="Times New Roman" panose="02020603050405020304" pitchFamily="18" charset="0"/>
                <a:ea typeface="Arial MT Pro"/>
                <a:cs typeface="Times New Roman" panose="02020603050405020304" pitchFamily="18" charset="0"/>
                <a:sym typeface="Arial MT Pro"/>
              </a:rPr>
              <a:t>: menu, </a:t>
            </a:r>
            <a:r>
              <a:rPr lang="en-US" sz="1600" dirty="0" err="1">
                <a:solidFill>
                  <a:srgbClr val="FFFFFF"/>
                </a:solidFill>
                <a:latin typeface="Times New Roman" panose="02020603050405020304" pitchFamily="18" charset="0"/>
                <a:ea typeface="Arial MT Pro"/>
                <a:cs typeface="Times New Roman" panose="02020603050405020304" pitchFamily="18" charset="0"/>
                <a:sym typeface="Arial MT Pro"/>
              </a:rPr>
              <a:t>xử</a:t>
            </a:r>
            <a:r>
              <a:rPr lang="en-US" sz="1600"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sz="1600" dirty="0" err="1">
                <a:solidFill>
                  <a:srgbClr val="FFFFFF"/>
                </a:solidFill>
                <a:latin typeface="Times New Roman" panose="02020603050405020304" pitchFamily="18" charset="0"/>
                <a:ea typeface="Arial MT Pro"/>
                <a:cs typeface="Times New Roman" panose="02020603050405020304" pitchFamily="18" charset="0"/>
                <a:sym typeface="Arial MT Pro"/>
              </a:rPr>
              <a:t>lý</a:t>
            </a:r>
            <a:r>
              <a:rPr lang="en-US" sz="1600"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sz="1600" dirty="0" err="1">
                <a:solidFill>
                  <a:srgbClr val="FFFFFF"/>
                </a:solidFill>
                <a:latin typeface="Times New Roman" panose="02020603050405020304" pitchFamily="18" charset="0"/>
                <a:ea typeface="Arial MT Pro"/>
                <a:cs typeface="Times New Roman" panose="02020603050405020304" pitchFamily="18" charset="0"/>
                <a:sym typeface="Arial MT Pro"/>
              </a:rPr>
              <a:t>đơn</a:t>
            </a:r>
            <a:r>
              <a:rPr lang="en-US" sz="1600"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sz="1600" dirty="0" err="1">
                <a:solidFill>
                  <a:srgbClr val="FFFFFF"/>
                </a:solidFill>
                <a:latin typeface="Times New Roman" panose="02020603050405020304" pitchFamily="18" charset="0"/>
                <a:ea typeface="Arial MT Pro"/>
                <a:cs typeface="Times New Roman" panose="02020603050405020304" pitchFamily="18" charset="0"/>
                <a:sym typeface="Arial MT Pro"/>
              </a:rPr>
              <a:t>hàng</a:t>
            </a:r>
            <a:endParaRPr lang="en-US" sz="1600" dirty="0">
              <a:solidFill>
                <a:srgbClr val="FFFFFF"/>
              </a:solidFill>
              <a:latin typeface="Times New Roman" panose="02020603050405020304" pitchFamily="18" charset="0"/>
              <a:ea typeface="Arial MT Pro"/>
              <a:cs typeface="Times New Roman" panose="02020603050405020304" pitchFamily="18" charset="0"/>
              <a:sym typeface="Arial MT Pro"/>
            </a:endParaRPr>
          </a:p>
        </p:txBody>
      </p:sp>
      <p:sp>
        <p:nvSpPr>
          <p:cNvPr id="31" name="TextBox 31"/>
          <p:cNvSpPr txBox="1"/>
          <p:nvPr/>
        </p:nvSpPr>
        <p:spPr>
          <a:xfrm>
            <a:off x="10095687" y="6869988"/>
            <a:ext cx="3088392" cy="492443"/>
          </a:xfrm>
          <a:prstGeom prst="rect">
            <a:avLst/>
          </a:prstGeom>
        </p:spPr>
        <p:txBody>
          <a:bodyPr lIns="0" tIns="0" rIns="0" bIns="0" rtlCol="0" anchor="t">
            <a:spAutoFit/>
          </a:bodyPr>
          <a:lstStyle/>
          <a:p>
            <a:pPr marL="0" lvl="0" indent="0" algn="l"/>
            <a:r>
              <a:rPr lang="en-US" sz="1600">
                <a:solidFill>
                  <a:srgbClr val="FFFFFF"/>
                </a:solidFill>
                <a:latin typeface="Times New Roman" panose="02020603050405020304" pitchFamily="18" charset="0"/>
                <a:ea typeface="Arial MT Pro"/>
                <a:cs typeface="Times New Roman" panose="02020603050405020304" pitchFamily="18" charset="0"/>
                <a:sym typeface="Arial MT Pro"/>
              </a:rPr>
              <a:t>staff.php &amp; inventory.php: Nhân viên, kiểm soát kho</a:t>
            </a:r>
          </a:p>
        </p:txBody>
      </p:sp>
      <p:sp>
        <p:nvSpPr>
          <p:cNvPr id="32" name="TextBox 32"/>
          <p:cNvSpPr txBox="1"/>
          <p:nvPr/>
        </p:nvSpPr>
        <p:spPr>
          <a:xfrm>
            <a:off x="10095687" y="7859841"/>
            <a:ext cx="3088392" cy="492443"/>
          </a:xfrm>
          <a:prstGeom prst="rect">
            <a:avLst/>
          </a:prstGeom>
        </p:spPr>
        <p:txBody>
          <a:bodyPr lIns="0" tIns="0" rIns="0" bIns="0" rtlCol="0" anchor="t">
            <a:spAutoFit/>
          </a:bodyPr>
          <a:lstStyle/>
          <a:p>
            <a:pPr marL="0" lvl="0" indent="0" algn="l"/>
            <a:r>
              <a:rPr lang="en-US" sz="1600">
                <a:solidFill>
                  <a:srgbClr val="FFFFFF"/>
                </a:solidFill>
                <a:latin typeface="Times New Roman" panose="02020603050405020304" pitchFamily="18" charset="0"/>
                <a:ea typeface="Arial MT Pro"/>
                <a:cs typeface="Times New Roman" panose="02020603050405020304" pitchFamily="18" charset="0"/>
                <a:sym typeface="Arial MT Pro"/>
              </a:rPr>
              <a:t>reports.php / login.php / index.php: Báo cáo &amp; bảo mật</a:t>
            </a:r>
          </a:p>
        </p:txBody>
      </p:sp>
      <p:sp>
        <p:nvSpPr>
          <p:cNvPr id="33" name="TextBox 33"/>
          <p:cNvSpPr txBox="1"/>
          <p:nvPr/>
        </p:nvSpPr>
        <p:spPr>
          <a:xfrm>
            <a:off x="3119192" y="2634941"/>
            <a:ext cx="5036482" cy="1645313"/>
          </a:xfrm>
          <a:prstGeom prst="rect">
            <a:avLst/>
          </a:prstGeom>
        </p:spPr>
        <p:txBody>
          <a:bodyPr lIns="0" tIns="0" rIns="0" bIns="0" rtlCol="0" anchor="t">
            <a:spAutoFit/>
          </a:bodyPr>
          <a:lstStyle/>
          <a:p>
            <a:pPr marL="0" lvl="0" indent="0" algn="l">
              <a:lnSpc>
                <a:spcPts val="5917"/>
              </a:lnSpc>
            </a:pPr>
            <a:r>
              <a:rPr lang="en-US" sz="5690" b="1" spc="-238">
                <a:solidFill>
                  <a:srgbClr val="FFFFFF"/>
                </a:solidFill>
                <a:latin typeface="Arial MT Pro Bold"/>
                <a:ea typeface="Arial MT Pro Bold"/>
                <a:cs typeface="Arial MT Pro Bold"/>
                <a:sym typeface="Arial MT Pro Bold"/>
              </a:rPr>
              <a:t>Chi Tiết Kỹ Thuật Chính</a:t>
            </a:r>
          </a:p>
        </p:txBody>
      </p:sp>
      <p:sp>
        <p:nvSpPr>
          <p:cNvPr id="34" name="TextBox 34"/>
          <p:cNvSpPr txBox="1"/>
          <p:nvPr/>
        </p:nvSpPr>
        <p:spPr>
          <a:xfrm>
            <a:off x="10208710" y="2361896"/>
            <a:ext cx="2347875" cy="955529"/>
          </a:xfrm>
          <a:prstGeom prst="rect">
            <a:avLst/>
          </a:prstGeom>
        </p:spPr>
        <p:txBody>
          <a:bodyPr lIns="0" tIns="0" rIns="0" bIns="0" rtlCol="0" anchor="t">
            <a:spAutoFit/>
          </a:bodyPr>
          <a:lstStyle/>
          <a:p>
            <a:pPr marL="0" lvl="0" indent="0" algn="l">
              <a:lnSpc>
                <a:spcPts val="3425"/>
              </a:lnSpc>
            </a:pPr>
            <a:r>
              <a:rPr lang="en-US" sz="3293" b="1" spc="-138">
                <a:solidFill>
                  <a:srgbClr val="FFFFFF"/>
                </a:solidFill>
                <a:latin typeface="Arial MT Pro Bold"/>
                <a:ea typeface="Arial MT Pro Bold"/>
                <a:cs typeface="Arial MT Pro Bold"/>
                <a:sym typeface="Arial MT Pro Bold"/>
              </a:rPr>
              <a:t>các file kỹ thuật</a:t>
            </a:r>
          </a:p>
        </p:txBody>
      </p:sp>
      <p:sp>
        <p:nvSpPr>
          <p:cNvPr id="35" name="TextBox 35"/>
          <p:cNvSpPr txBox="1"/>
          <p:nvPr/>
        </p:nvSpPr>
        <p:spPr>
          <a:xfrm>
            <a:off x="3174867" y="5748463"/>
            <a:ext cx="5085733" cy="1846659"/>
          </a:xfrm>
          <a:prstGeom prst="rect">
            <a:avLst/>
          </a:prstGeom>
        </p:spPr>
        <p:txBody>
          <a:bodyPr lIns="0" tIns="0" rIns="0" bIns="0" rtlCol="0" anchor="t">
            <a:spAutoFit/>
          </a:bodyPr>
          <a:lstStyle/>
          <a:p>
            <a:pPr marL="0" lvl="0" indent="0" algn="just"/>
            <a:r>
              <a:rPr lang="en-US" sz="2400" dirty="0" err="1">
                <a:solidFill>
                  <a:srgbClr val="FFFFFF"/>
                </a:solidFill>
                <a:latin typeface="Times New Roman" panose="02020603050405020304" pitchFamily="18" charset="0"/>
                <a:ea typeface="Arial MT Pro"/>
                <a:cs typeface="Times New Roman" panose="02020603050405020304" pitchFamily="18" charset="0"/>
                <a:sym typeface="Arial MT Pro"/>
              </a:rPr>
              <a:t>Hệ</a:t>
            </a:r>
            <a:r>
              <a:rPr lang="en-US" sz="2400"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sz="2400" dirty="0" err="1">
                <a:solidFill>
                  <a:srgbClr val="FFFFFF"/>
                </a:solidFill>
                <a:latin typeface="Times New Roman" panose="02020603050405020304" pitchFamily="18" charset="0"/>
                <a:ea typeface="Arial MT Pro"/>
                <a:cs typeface="Times New Roman" panose="02020603050405020304" pitchFamily="18" charset="0"/>
                <a:sym typeface="Arial MT Pro"/>
              </a:rPr>
              <a:t>thống</a:t>
            </a:r>
            <a:r>
              <a:rPr lang="en-US" sz="2400"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sz="2400" dirty="0" err="1">
                <a:solidFill>
                  <a:srgbClr val="FFFFFF"/>
                </a:solidFill>
                <a:latin typeface="Times New Roman" panose="02020603050405020304" pitchFamily="18" charset="0"/>
                <a:ea typeface="Arial MT Pro"/>
                <a:cs typeface="Times New Roman" panose="02020603050405020304" pitchFamily="18" charset="0"/>
                <a:sym typeface="Arial MT Pro"/>
              </a:rPr>
              <a:t>được</a:t>
            </a:r>
            <a:r>
              <a:rPr lang="en-US" sz="2400"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sz="2400" dirty="0" err="1">
                <a:solidFill>
                  <a:srgbClr val="FFFFFF"/>
                </a:solidFill>
                <a:latin typeface="Times New Roman" panose="02020603050405020304" pitchFamily="18" charset="0"/>
                <a:ea typeface="Arial MT Pro"/>
                <a:cs typeface="Times New Roman" panose="02020603050405020304" pitchFamily="18" charset="0"/>
                <a:sym typeface="Arial MT Pro"/>
              </a:rPr>
              <a:t>xây</a:t>
            </a:r>
            <a:r>
              <a:rPr lang="en-US" sz="2400"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sz="2400" dirty="0" err="1">
                <a:solidFill>
                  <a:srgbClr val="FFFFFF"/>
                </a:solidFill>
                <a:latin typeface="Times New Roman" panose="02020603050405020304" pitchFamily="18" charset="0"/>
                <a:ea typeface="Arial MT Pro"/>
                <a:cs typeface="Times New Roman" panose="02020603050405020304" pitchFamily="18" charset="0"/>
                <a:sym typeface="Arial MT Pro"/>
              </a:rPr>
              <a:t>dựng</a:t>
            </a:r>
            <a:r>
              <a:rPr lang="en-US" sz="2400"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sz="2400" dirty="0" err="1">
                <a:solidFill>
                  <a:srgbClr val="FFFFFF"/>
                </a:solidFill>
                <a:latin typeface="Times New Roman" panose="02020603050405020304" pitchFamily="18" charset="0"/>
                <a:ea typeface="Arial MT Pro"/>
                <a:cs typeface="Times New Roman" panose="02020603050405020304" pitchFamily="18" charset="0"/>
                <a:sym typeface="Arial MT Pro"/>
              </a:rPr>
              <a:t>từ</a:t>
            </a:r>
            <a:r>
              <a:rPr lang="en-US" sz="2400"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sz="2400" dirty="0" err="1">
                <a:solidFill>
                  <a:srgbClr val="FFFFFF"/>
                </a:solidFill>
                <a:latin typeface="Times New Roman" panose="02020603050405020304" pitchFamily="18" charset="0"/>
                <a:ea typeface="Arial MT Pro"/>
                <a:cs typeface="Times New Roman" panose="02020603050405020304" pitchFamily="18" charset="0"/>
                <a:sym typeface="Arial MT Pro"/>
              </a:rPr>
              <a:t>các</a:t>
            </a:r>
            <a:r>
              <a:rPr lang="en-US" sz="2400" dirty="0">
                <a:solidFill>
                  <a:srgbClr val="FFFFFF"/>
                </a:solidFill>
                <a:latin typeface="Times New Roman" panose="02020603050405020304" pitchFamily="18" charset="0"/>
                <a:ea typeface="Arial MT Pro"/>
                <a:cs typeface="Times New Roman" panose="02020603050405020304" pitchFamily="18" charset="0"/>
                <a:sym typeface="Arial MT Pro"/>
              </a:rPr>
              <a:t> file PHP </a:t>
            </a:r>
            <a:r>
              <a:rPr lang="en-US" sz="2400" dirty="0" err="1">
                <a:solidFill>
                  <a:srgbClr val="FFFFFF"/>
                </a:solidFill>
                <a:latin typeface="Times New Roman" panose="02020603050405020304" pitchFamily="18" charset="0"/>
                <a:ea typeface="Arial MT Pro"/>
                <a:cs typeface="Times New Roman" panose="02020603050405020304" pitchFamily="18" charset="0"/>
                <a:sym typeface="Arial MT Pro"/>
              </a:rPr>
              <a:t>và</a:t>
            </a:r>
            <a:r>
              <a:rPr lang="en-US" sz="2400" dirty="0">
                <a:solidFill>
                  <a:srgbClr val="FFFFFF"/>
                </a:solidFill>
                <a:latin typeface="Times New Roman" panose="02020603050405020304" pitchFamily="18" charset="0"/>
                <a:ea typeface="Arial MT Pro"/>
                <a:cs typeface="Times New Roman" panose="02020603050405020304" pitchFamily="18" charset="0"/>
                <a:sym typeface="Arial MT Pro"/>
              </a:rPr>
              <a:t> SQL </a:t>
            </a:r>
            <a:r>
              <a:rPr lang="en-US" sz="2400" dirty="0" err="1">
                <a:solidFill>
                  <a:srgbClr val="FFFFFF"/>
                </a:solidFill>
                <a:latin typeface="Times New Roman" panose="02020603050405020304" pitchFamily="18" charset="0"/>
                <a:ea typeface="Arial MT Pro"/>
                <a:cs typeface="Times New Roman" panose="02020603050405020304" pitchFamily="18" charset="0"/>
                <a:sym typeface="Arial MT Pro"/>
              </a:rPr>
              <a:t>có</a:t>
            </a:r>
            <a:r>
              <a:rPr lang="en-US" sz="2400"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sz="2400" dirty="0" err="1">
                <a:solidFill>
                  <a:srgbClr val="FFFFFF"/>
                </a:solidFill>
                <a:latin typeface="Times New Roman" panose="02020603050405020304" pitchFamily="18" charset="0"/>
                <a:ea typeface="Arial MT Pro"/>
                <a:cs typeface="Times New Roman" panose="02020603050405020304" pitchFamily="18" charset="0"/>
                <a:sym typeface="Arial MT Pro"/>
              </a:rPr>
              <a:t>chức</a:t>
            </a:r>
            <a:r>
              <a:rPr lang="en-US" sz="2400"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sz="2400" dirty="0" err="1">
                <a:solidFill>
                  <a:srgbClr val="FFFFFF"/>
                </a:solidFill>
                <a:latin typeface="Times New Roman" panose="02020603050405020304" pitchFamily="18" charset="0"/>
                <a:ea typeface="Arial MT Pro"/>
                <a:cs typeface="Times New Roman" panose="02020603050405020304" pitchFamily="18" charset="0"/>
                <a:sym typeface="Arial MT Pro"/>
              </a:rPr>
              <a:t>năng</a:t>
            </a:r>
            <a:r>
              <a:rPr lang="en-US" sz="2400"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sz="2400" dirty="0" err="1">
                <a:solidFill>
                  <a:srgbClr val="FFFFFF"/>
                </a:solidFill>
                <a:latin typeface="Times New Roman" panose="02020603050405020304" pitchFamily="18" charset="0"/>
                <a:ea typeface="Arial MT Pro"/>
                <a:cs typeface="Times New Roman" panose="02020603050405020304" pitchFamily="18" charset="0"/>
                <a:sym typeface="Arial MT Pro"/>
              </a:rPr>
              <a:t>rõ</a:t>
            </a:r>
            <a:r>
              <a:rPr lang="en-US" sz="2400"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sz="2400" dirty="0" err="1">
                <a:solidFill>
                  <a:srgbClr val="FFFFFF"/>
                </a:solidFill>
                <a:latin typeface="Times New Roman" panose="02020603050405020304" pitchFamily="18" charset="0"/>
                <a:ea typeface="Arial MT Pro"/>
                <a:cs typeface="Times New Roman" panose="02020603050405020304" pitchFamily="18" charset="0"/>
                <a:sym typeface="Arial MT Pro"/>
              </a:rPr>
              <a:t>ràng</a:t>
            </a:r>
            <a:r>
              <a:rPr lang="en-US" sz="2400"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sz="2400" dirty="0" err="1">
                <a:solidFill>
                  <a:srgbClr val="FFFFFF"/>
                </a:solidFill>
                <a:latin typeface="Times New Roman" panose="02020603050405020304" pitchFamily="18" charset="0"/>
                <a:ea typeface="Arial MT Pro"/>
                <a:cs typeface="Times New Roman" panose="02020603050405020304" pitchFamily="18" charset="0"/>
                <a:sym typeface="Arial MT Pro"/>
              </a:rPr>
              <a:t>đảm</a:t>
            </a:r>
            <a:r>
              <a:rPr lang="en-US" sz="2400"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sz="2400" dirty="0" err="1">
                <a:solidFill>
                  <a:srgbClr val="FFFFFF"/>
                </a:solidFill>
                <a:latin typeface="Times New Roman" panose="02020603050405020304" pitchFamily="18" charset="0"/>
                <a:ea typeface="Arial MT Pro"/>
                <a:cs typeface="Times New Roman" panose="02020603050405020304" pitchFamily="18" charset="0"/>
                <a:sym typeface="Arial MT Pro"/>
              </a:rPr>
              <a:t>bảo</a:t>
            </a:r>
            <a:r>
              <a:rPr lang="en-US" sz="2400"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sz="2400" dirty="0" err="1">
                <a:solidFill>
                  <a:srgbClr val="FFFFFF"/>
                </a:solidFill>
                <a:latin typeface="Times New Roman" panose="02020603050405020304" pitchFamily="18" charset="0"/>
                <a:ea typeface="Arial MT Pro"/>
                <a:cs typeface="Times New Roman" panose="02020603050405020304" pitchFamily="18" charset="0"/>
                <a:sym typeface="Arial MT Pro"/>
              </a:rPr>
              <a:t>quản</a:t>
            </a:r>
            <a:r>
              <a:rPr lang="en-US" sz="2400"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sz="2400" dirty="0" err="1">
                <a:solidFill>
                  <a:srgbClr val="FFFFFF"/>
                </a:solidFill>
                <a:latin typeface="Times New Roman" panose="02020603050405020304" pitchFamily="18" charset="0"/>
                <a:ea typeface="Arial MT Pro"/>
                <a:cs typeface="Times New Roman" panose="02020603050405020304" pitchFamily="18" charset="0"/>
                <a:sym typeface="Arial MT Pro"/>
              </a:rPr>
              <a:t>lý</a:t>
            </a:r>
            <a:r>
              <a:rPr lang="en-US" sz="2400"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sz="2400" dirty="0" err="1">
                <a:solidFill>
                  <a:srgbClr val="FFFFFF"/>
                </a:solidFill>
                <a:latin typeface="Times New Roman" panose="02020603050405020304" pitchFamily="18" charset="0"/>
                <a:ea typeface="Arial MT Pro"/>
                <a:cs typeface="Times New Roman" panose="02020603050405020304" pitchFamily="18" charset="0"/>
                <a:sym typeface="Arial MT Pro"/>
              </a:rPr>
              <a:t>toàn</a:t>
            </a:r>
            <a:r>
              <a:rPr lang="en-US" sz="2400"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sz="2400" dirty="0" err="1">
                <a:solidFill>
                  <a:srgbClr val="FFFFFF"/>
                </a:solidFill>
                <a:latin typeface="Times New Roman" panose="02020603050405020304" pitchFamily="18" charset="0"/>
                <a:ea typeface="Arial MT Pro"/>
                <a:cs typeface="Times New Roman" panose="02020603050405020304" pitchFamily="18" charset="0"/>
                <a:sym typeface="Arial MT Pro"/>
              </a:rPr>
              <a:t>diện</a:t>
            </a:r>
            <a:r>
              <a:rPr lang="en-US" sz="2400"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sz="2400" dirty="0" err="1">
                <a:solidFill>
                  <a:srgbClr val="FFFFFF"/>
                </a:solidFill>
                <a:latin typeface="Times New Roman" panose="02020603050405020304" pitchFamily="18" charset="0"/>
                <a:ea typeface="Arial MT Pro"/>
                <a:cs typeface="Times New Roman" panose="02020603050405020304" pitchFamily="18" charset="0"/>
                <a:sym typeface="Arial MT Pro"/>
              </a:rPr>
              <a:t>quán</a:t>
            </a:r>
            <a:r>
              <a:rPr lang="en-US" sz="2400" dirty="0">
                <a:solidFill>
                  <a:srgbClr val="FFFFFF"/>
                </a:solidFill>
                <a:latin typeface="Times New Roman" panose="02020603050405020304" pitchFamily="18" charset="0"/>
                <a:ea typeface="Arial MT Pro"/>
                <a:cs typeface="Times New Roman" panose="02020603050405020304" pitchFamily="18" charset="0"/>
                <a:sym typeface="Arial MT Pro"/>
              </a:rPr>
              <a:t> coffee </a:t>
            </a:r>
            <a:r>
              <a:rPr lang="en-US" sz="2400" dirty="0" err="1">
                <a:solidFill>
                  <a:srgbClr val="FFFFFF"/>
                </a:solidFill>
                <a:latin typeface="Times New Roman" panose="02020603050405020304" pitchFamily="18" charset="0"/>
                <a:ea typeface="Arial MT Pro"/>
                <a:cs typeface="Times New Roman" panose="02020603050405020304" pitchFamily="18" charset="0"/>
                <a:sym typeface="Arial MT Pro"/>
              </a:rPr>
              <a:t>từ</a:t>
            </a:r>
            <a:r>
              <a:rPr lang="en-US" sz="2400"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sz="2400" dirty="0" err="1">
                <a:solidFill>
                  <a:srgbClr val="FFFFFF"/>
                </a:solidFill>
                <a:latin typeface="Times New Roman" panose="02020603050405020304" pitchFamily="18" charset="0"/>
                <a:ea typeface="Arial MT Pro"/>
                <a:cs typeface="Times New Roman" panose="02020603050405020304" pitchFamily="18" charset="0"/>
                <a:sym typeface="Arial MT Pro"/>
              </a:rPr>
              <a:t>đăng</a:t>
            </a:r>
            <a:r>
              <a:rPr lang="en-US" sz="2400"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sz="2400" dirty="0" err="1">
                <a:solidFill>
                  <a:srgbClr val="FFFFFF"/>
                </a:solidFill>
                <a:latin typeface="Times New Roman" panose="02020603050405020304" pitchFamily="18" charset="0"/>
                <a:ea typeface="Arial MT Pro"/>
                <a:cs typeface="Times New Roman" panose="02020603050405020304" pitchFamily="18" charset="0"/>
                <a:sym typeface="Arial MT Pro"/>
              </a:rPr>
              <a:t>nhập</a:t>
            </a:r>
            <a:r>
              <a:rPr lang="en-US" sz="2400" dirty="0">
                <a:solidFill>
                  <a:srgbClr val="FFFFFF"/>
                </a:solidFill>
                <a:latin typeface="Times New Roman" panose="02020603050405020304" pitchFamily="18" charset="0"/>
                <a:ea typeface="Arial MT Pro"/>
                <a:cs typeface="Times New Roman" panose="02020603050405020304" pitchFamily="18" charset="0"/>
                <a:sym typeface="Arial MT Pro"/>
              </a:rPr>
              <a:t>, menu, order </a:t>
            </a:r>
            <a:r>
              <a:rPr lang="en-US" sz="2400" dirty="0" err="1">
                <a:solidFill>
                  <a:srgbClr val="FFFFFF"/>
                </a:solidFill>
                <a:latin typeface="Times New Roman" panose="02020603050405020304" pitchFamily="18" charset="0"/>
                <a:ea typeface="Arial MT Pro"/>
                <a:cs typeface="Times New Roman" panose="02020603050405020304" pitchFamily="18" charset="0"/>
                <a:sym typeface="Arial MT Pro"/>
              </a:rPr>
              <a:t>đến</a:t>
            </a:r>
            <a:r>
              <a:rPr lang="en-US" sz="2400"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sz="2400" dirty="0" err="1">
                <a:solidFill>
                  <a:srgbClr val="FFFFFF"/>
                </a:solidFill>
                <a:latin typeface="Times New Roman" panose="02020603050405020304" pitchFamily="18" charset="0"/>
                <a:ea typeface="Arial MT Pro"/>
                <a:cs typeface="Times New Roman" panose="02020603050405020304" pitchFamily="18" charset="0"/>
                <a:sym typeface="Arial MT Pro"/>
              </a:rPr>
              <a:t>kho</a:t>
            </a:r>
            <a:r>
              <a:rPr lang="en-US" sz="2400"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sz="2400" dirty="0" err="1">
                <a:solidFill>
                  <a:srgbClr val="FFFFFF"/>
                </a:solidFill>
                <a:latin typeface="Times New Roman" panose="02020603050405020304" pitchFamily="18" charset="0"/>
                <a:ea typeface="Arial MT Pro"/>
                <a:cs typeface="Times New Roman" panose="02020603050405020304" pitchFamily="18" charset="0"/>
                <a:sym typeface="Arial MT Pro"/>
              </a:rPr>
              <a:t>và</a:t>
            </a:r>
            <a:r>
              <a:rPr lang="en-US" sz="2400"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sz="2400" dirty="0" err="1">
                <a:solidFill>
                  <a:srgbClr val="FFFFFF"/>
                </a:solidFill>
                <a:latin typeface="Times New Roman" panose="02020603050405020304" pitchFamily="18" charset="0"/>
                <a:ea typeface="Arial MT Pro"/>
                <a:cs typeface="Times New Roman" panose="02020603050405020304" pitchFamily="18" charset="0"/>
                <a:sym typeface="Arial MT Pro"/>
              </a:rPr>
              <a:t>báo</a:t>
            </a:r>
            <a:r>
              <a:rPr lang="en-US" sz="2400"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sz="2400" dirty="0" err="1">
                <a:solidFill>
                  <a:srgbClr val="FFFFFF"/>
                </a:solidFill>
                <a:latin typeface="Times New Roman" panose="02020603050405020304" pitchFamily="18" charset="0"/>
                <a:ea typeface="Arial MT Pro"/>
                <a:cs typeface="Times New Roman" panose="02020603050405020304" pitchFamily="18" charset="0"/>
                <a:sym typeface="Arial MT Pro"/>
              </a:rPr>
              <a:t>cáo</a:t>
            </a:r>
            <a:r>
              <a:rPr lang="en-US" sz="2400"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sz="2400" dirty="0" err="1">
                <a:solidFill>
                  <a:srgbClr val="FFFFFF"/>
                </a:solidFill>
                <a:latin typeface="Times New Roman" panose="02020603050405020304" pitchFamily="18" charset="0"/>
                <a:ea typeface="Arial MT Pro"/>
                <a:cs typeface="Times New Roman" panose="02020603050405020304" pitchFamily="18" charset="0"/>
                <a:sym typeface="Arial MT Pro"/>
              </a:rPr>
              <a:t>doanh</a:t>
            </a:r>
            <a:r>
              <a:rPr lang="en-US" sz="2400" dirty="0">
                <a:solidFill>
                  <a:srgbClr val="FFFFFF"/>
                </a:solidFill>
                <a:latin typeface="Times New Roman" panose="02020603050405020304" pitchFamily="18" charset="0"/>
                <a:ea typeface="Arial MT Pro"/>
                <a:cs typeface="Times New Roman" panose="02020603050405020304" pitchFamily="18" charset="0"/>
                <a:sym typeface="Arial MT Pro"/>
              </a:rPr>
              <a:t> </a:t>
            </a:r>
            <a:r>
              <a:rPr lang="en-US" sz="2400" dirty="0" err="1">
                <a:solidFill>
                  <a:srgbClr val="FFFFFF"/>
                </a:solidFill>
                <a:latin typeface="Times New Roman" panose="02020603050405020304" pitchFamily="18" charset="0"/>
                <a:ea typeface="Arial MT Pro"/>
                <a:cs typeface="Times New Roman" panose="02020603050405020304" pitchFamily="18" charset="0"/>
                <a:sym typeface="Arial MT Pro"/>
              </a:rPr>
              <a:t>thu</a:t>
            </a:r>
            <a:r>
              <a:rPr lang="en-US" sz="2400" dirty="0">
                <a:solidFill>
                  <a:srgbClr val="FFFFFF"/>
                </a:solidFill>
                <a:latin typeface="Times New Roman" panose="02020603050405020304" pitchFamily="18" charset="0"/>
                <a:ea typeface="Arial MT Pro"/>
                <a:cs typeface="Times New Roman" panose="02020603050405020304" pitchFamily="18" charset="0"/>
                <a:sym typeface="Arial MT Pro"/>
              </a:rPr>
              <a:t>.</a:t>
            </a:r>
          </a:p>
        </p:txBody>
      </p:sp>
      <p:grpSp>
        <p:nvGrpSpPr>
          <p:cNvPr id="36" name="Group 36"/>
          <p:cNvGrpSpPr/>
          <p:nvPr/>
        </p:nvGrpSpPr>
        <p:grpSpPr>
          <a:xfrm rot="-4011154">
            <a:off x="10392480" y="-68348"/>
            <a:ext cx="17403374" cy="18180272"/>
            <a:chOff x="0" y="0"/>
            <a:chExt cx="4583605" cy="4788220"/>
          </a:xfrm>
        </p:grpSpPr>
        <p:sp>
          <p:nvSpPr>
            <p:cNvPr id="37" name="Freeform 37"/>
            <p:cNvSpPr/>
            <p:nvPr/>
          </p:nvSpPr>
          <p:spPr>
            <a:xfrm>
              <a:off x="0" y="0"/>
              <a:ext cx="4583605" cy="4788220"/>
            </a:xfrm>
            <a:custGeom>
              <a:avLst/>
              <a:gdLst/>
              <a:ahLst/>
              <a:cxnLst/>
              <a:rect l="l" t="t" r="r" b="b"/>
              <a:pathLst>
                <a:path w="4583605" h="4788220">
                  <a:moveTo>
                    <a:pt x="0" y="0"/>
                  </a:moveTo>
                  <a:lnTo>
                    <a:pt x="4583605" y="0"/>
                  </a:lnTo>
                  <a:lnTo>
                    <a:pt x="4583605" y="4788220"/>
                  </a:lnTo>
                  <a:lnTo>
                    <a:pt x="0" y="4788220"/>
                  </a:lnTo>
                  <a:close/>
                </a:path>
              </a:pathLst>
            </a:custGeom>
            <a:gradFill rotWithShape="1">
              <a:gsLst>
                <a:gs pos="0">
                  <a:srgbClr val="27DDDF">
                    <a:alpha val="0"/>
                  </a:srgbClr>
                </a:gs>
                <a:gs pos="100000">
                  <a:srgbClr val="27DDDF">
                    <a:alpha val="100000"/>
                  </a:srgbClr>
                </a:gs>
              </a:gsLst>
              <a:lin ang="5400000"/>
            </a:gradFill>
          </p:spPr>
        </p:sp>
        <p:sp>
          <p:nvSpPr>
            <p:cNvPr id="38" name="TextBox 38"/>
            <p:cNvSpPr txBox="1"/>
            <p:nvPr/>
          </p:nvSpPr>
          <p:spPr>
            <a:xfrm>
              <a:off x="0" y="19050"/>
              <a:ext cx="4583605" cy="4769170"/>
            </a:xfrm>
            <a:prstGeom prst="rect">
              <a:avLst/>
            </a:prstGeom>
          </p:spPr>
          <p:txBody>
            <a:bodyPr lIns="50800" tIns="50800" rIns="50800" bIns="50800" rtlCol="0" anchor="ctr"/>
            <a:lstStyle/>
            <a:p>
              <a:pPr marL="0" lvl="0" indent="0" algn="ctr">
                <a:lnSpc>
                  <a:spcPts val="1387"/>
                </a:lnSpc>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41519"/>
        </a:solidFill>
        <a:effectLst/>
      </p:bgPr>
    </p:bg>
    <p:spTree>
      <p:nvGrpSpPr>
        <p:cNvPr id="1" name="">
          <a:extLst>
            <a:ext uri="{FF2B5EF4-FFF2-40B4-BE49-F238E27FC236}">
              <a16:creationId xmlns:a16="http://schemas.microsoft.com/office/drawing/2014/main" id="{4A6ABC26-87D7-3418-1107-7B399FE36583}"/>
            </a:ext>
          </a:extLst>
        </p:cNvPr>
        <p:cNvGrpSpPr/>
        <p:nvPr/>
      </p:nvGrpSpPr>
      <p:grpSpPr>
        <a:xfrm>
          <a:off x="0" y="0"/>
          <a:ext cx="0" cy="0"/>
          <a:chOff x="0" y="0"/>
          <a:chExt cx="0" cy="0"/>
        </a:xfrm>
      </p:grpSpPr>
      <p:grpSp>
        <p:nvGrpSpPr>
          <p:cNvPr id="36" name="Group 36">
            <a:extLst>
              <a:ext uri="{FF2B5EF4-FFF2-40B4-BE49-F238E27FC236}">
                <a16:creationId xmlns:a16="http://schemas.microsoft.com/office/drawing/2014/main" id="{2767A61D-5E30-889F-8B69-001B697FFCE6}"/>
              </a:ext>
            </a:extLst>
          </p:cNvPr>
          <p:cNvGrpSpPr/>
          <p:nvPr/>
        </p:nvGrpSpPr>
        <p:grpSpPr>
          <a:xfrm rot="-4011154">
            <a:off x="13288080" y="-114552"/>
            <a:ext cx="17403374" cy="18180272"/>
            <a:chOff x="0" y="0"/>
            <a:chExt cx="4583605" cy="4788220"/>
          </a:xfrm>
        </p:grpSpPr>
        <p:sp>
          <p:nvSpPr>
            <p:cNvPr id="37" name="Freeform 37">
              <a:extLst>
                <a:ext uri="{FF2B5EF4-FFF2-40B4-BE49-F238E27FC236}">
                  <a16:creationId xmlns:a16="http://schemas.microsoft.com/office/drawing/2014/main" id="{E2EC6FCE-9975-AA98-AAC1-4F34EFBD61C4}"/>
                </a:ext>
              </a:extLst>
            </p:cNvPr>
            <p:cNvSpPr/>
            <p:nvPr/>
          </p:nvSpPr>
          <p:spPr>
            <a:xfrm>
              <a:off x="0" y="0"/>
              <a:ext cx="4583605" cy="4788220"/>
            </a:xfrm>
            <a:custGeom>
              <a:avLst/>
              <a:gdLst/>
              <a:ahLst/>
              <a:cxnLst/>
              <a:rect l="l" t="t" r="r" b="b"/>
              <a:pathLst>
                <a:path w="4583605" h="4788220">
                  <a:moveTo>
                    <a:pt x="0" y="0"/>
                  </a:moveTo>
                  <a:lnTo>
                    <a:pt x="4583605" y="0"/>
                  </a:lnTo>
                  <a:lnTo>
                    <a:pt x="4583605" y="4788220"/>
                  </a:lnTo>
                  <a:lnTo>
                    <a:pt x="0" y="4788220"/>
                  </a:lnTo>
                  <a:close/>
                </a:path>
              </a:pathLst>
            </a:custGeom>
            <a:gradFill rotWithShape="1">
              <a:gsLst>
                <a:gs pos="0">
                  <a:srgbClr val="27DDDF">
                    <a:alpha val="0"/>
                  </a:srgbClr>
                </a:gs>
                <a:gs pos="100000">
                  <a:srgbClr val="27DDDF">
                    <a:alpha val="100000"/>
                  </a:srgbClr>
                </a:gs>
              </a:gsLst>
              <a:lin ang="5400000"/>
            </a:gradFill>
          </p:spPr>
        </p:sp>
        <p:sp>
          <p:nvSpPr>
            <p:cNvPr id="38" name="TextBox 38">
              <a:extLst>
                <a:ext uri="{FF2B5EF4-FFF2-40B4-BE49-F238E27FC236}">
                  <a16:creationId xmlns:a16="http://schemas.microsoft.com/office/drawing/2014/main" id="{DE3AE1CD-CD07-CF06-86D2-690746269039}"/>
                </a:ext>
              </a:extLst>
            </p:cNvPr>
            <p:cNvSpPr txBox="1"/>
            <p:nvPr/>
          </p:nvSpPr>
          <p:spPr>
            <a:xfrm>
              <a:off x="0" y="19050"/>
              <a:ext cx="4583605" cy="4769170"/>
            </a:xfrm>
            <a:prstGeom prst="rect">
              <a:avLst/>
            </a:prstGeom>
          </p:spPr>
          <p:txBody>
            <a:bodyPr lIns="50800" tIns="50800" rIns="50800" bIns="50800" rtlCol="0" anchor="ctr"/>
            <a:lstStyle/>
            <a:p>
              <a:pPr marL="0" marR="0" lvl="0" indent="0" algn="ctr" defTabSz="914400" rtl="0" eaLnBrk="1" fontAlgn="auto" latinLnBrk="0" hangingPunct="1">
                <a:lnSpc>
                  <a:spcPts val="1387"/>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pic>
        <p:nvPicPr>
          <p:cNvPr id="3" name="Picture 2">
            <a:extLst>
              <a:ext uri="{FF2B5EF4-FFF2-40B4-BE49-F238E27FC236}">
                <a16:creationId xmlns:a16="http://schemas.microsoft.com/office/drawing/2014/main" id="{08009759-C6EF-A188-E8F4-6B69A760EC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495300"/>
            <a:ext cx="14445898" cy="6858000"/>
          </a:xfrm>
          <a:prstGeom prst="rect">
            <a:avLst/>
          </a:prstGeom>
        </p:spPr>
      </p:pic>
      <p:sp>
        <p:nvSpPr>
          <p:cNvPr id="4" name="TextBox 3">
            <a:extLst>
              <a:ext uri="{FF2B5EF4-FFF2-40B4-BE49-F238E27FC236}">
                <a16:creationId xmlns:a16="http://schemas.microsoft.com/office/drawing/2014/main" id="{2CB3784C-8C4F-585A-FD56-93DEBCEB5BBE}"/>
              </a:ext>
            </a:extLst>
          </p:cNvPr>
          <p:cNvSpPr txBox="1"/>
          <p:nvPr/>
        </p:nvSpPr>
        <p:spPr>
          <a:xfrm>
            <a:off x="1965149" y="8267700"/>
            <a:ext cx="14630400" cy="707886"/>
          </a:xfrm>
          <a:prstGeom prst="rect">
            <a:avLst/>
          </a:prstGeom>
          <a:noFill/>
        </p:spPr>
        <p:txBody>
          <a:bodyPr wrap="square" rtlCol="0">
            <a:spAutoFit/>
          </a:bodyPr>
          <a:lstStyle/>
          <a:p>
            <a:r>
              <a:rPr lang="en-US" sz="4000" dirty="0">
                <a:solidFill>
                  <a:schemeClr val="bg1"/>
                </a:solidFill>
                <a:latin typeface="Times New Roman" panose="02020603050405020304" pitchFamily="18" charset="0"/>
                <a:cs typeface="Times New Roman" panose="02020603050405020304" pitchFamily="18" charset="0"/>
              </a:rPr>
              <a:t>Sau </a:t>
            </a:r>
            <a:r>
              <a:rPr lang="en-US" sz="4000" dirty="0" err="1">
                <a:solidFill>
                  <a:schemeClr val="bg1"/>
                </a:solidFill>
                <a:latin typeface="Times New Roman" panose="02020603050405020304" pitchFamily="18" charset="0"/>
                <a:cs typeface="Times New Roman" panose="02020603050405020304" pitchFamily="18" charset="0"/>
              </a:rPr>
              <a:t>đây</a:t>
            </a:r>
            <a:r>
              <a:rPr lang="en-US" sz="4000" dirty="0">
                <a:solidFill>
                  <a:schemeClr val="bg1"/>
                </a:solidFill>
                <a:latin typeface="Times New Roman" panose="02020603050405020304" pitchFamily="18" charset="0"/>
                <a:cs typeface="Times New Roman" panose="02020603050405020304" pitchFamily="18" charset="0"/>
              </a:rPr>
              <a:t> </a:t>
            </a:r>
            <a:r>
              <a:rPr lang="en-US" sz="4000" dirty="0" err="1">
                <a:solidFill>
                  <a:schemeClr val="bg1"/>
                </a:solidFill>
                <a:latin typeface="Times New Roman" panose="02020603050405020304" pitchFamily="18" charset="0"/>
                <a:cs typeface="Times New Roman" panose="02020603050405020304" pitchFamily="18" charset="0"/>
              </a:rPr>
              <a:t>là</a:t>
            </a:r>
            <a:r>
              <a:rPr lang="en-US" sz="4000" dirty="0">
                <a:solidFill>
                  <a:schemeClr val="bg1"/>
                </a:solidFill>
                <a:latin typeface="Times New Roman" panose="02020603050405020304" pitchFamily="18" charset="0"/>
                <a:cs typeface="Times New Roman" panose="02020603050405020304" pitchFamily="18" charset="0"/>
              </a:rPr>
              <a:t> </a:t>
            </a:r>
            <a:r>
              <a:rPr lang="en-US" sz="4000" dirty="0" err="1">
                <a:solidFill>
                  <a:schemeClr val="bg1"/>
                </a:solidFill>
                <a:latin typeface="Times New Roman" panose="02020603050405020304" pitchFamily="18" charset="0"/>
                <a:cs typeface="Times New Roman" panose="02020603050405020304" pitchFamily="18" charset="0"/>
              </a:rPr>
              <a:t>hình</a:t>
            </a:r>
            <a:r>
              <a:rPr lang="en-US" sz="4000" dirty="0">
                <a:solidFill>
                  <a:schemeClr val="bg1"/>
                </a:solidFill>
                <a:latin typeface="Times New Roman" panose="02020603050405020304" pitchFamily="18" charset="0"/>
                <a:cs typeface="Times New Roman" panose="02020603050405020304" pitchFamily="18" charset="0"/>
              </a:rPr>
              <a:t> </a:t>
            </a:r>
            <a:r>
              <a:rPr lang="en-US" sz="4000" dirty="0" err="1">
                <a:solidFill>
                  <a:schemeClr val="bg1"/>
                </a:solidFill>
                <a:latin typeface="Times New Roman" panose="02020603050405020304" pitchFamily="18" charset="0"/>
                <a:cs typeface="Times New Roman" panose="02020603050405020304" pitchFamily="18" charset="0"/>
              </a:rPr>
              <a:t>thức</a:t>
            </a:r>
            <a:r>
              <a:rPr lang="en-US" sz="4000" dirty="0">
                <a:solidFill>
                  <a:schemeClr val="bg1"/>
                </a:solidFill>
                <a:latin typeface="Times New Roman" panose="02020603050405020304" pitchFamily="18" charset="0"/>
                <a:cs typeface="Times New Roman" panose="02020603050405020304" pitchFamily="18" charset="0"/>
              </a:rPr>
              <a:t> </a:t>
            </a:r>
            <a:r>
              <a:rPr lang="en-US" sz="4000" dirty="0" err="1">
                <a:solidFill>
                  <a:schemeClr val="bg1"/>
                </a:solidFill>
                <a:latin typeface="Times New Roman" panose="02020603050405020304" pitchFamily="18" charset="0"/>
                <a:cs typeface="Times New Roman" panose="02020603050405020304" pitchFamily="18" charset="0"/>
              </a:rPr>
              <a:t>hoạt</a:t>
            </a:r>
            <a:r>
              <a:rPr lang="en-US" sz="4000" dirty="0">
                <a:solidFill>
                  <a:schemeClr val="bg1"/>
                </a:solidFill>
                <a:latin typeface="Times New Roman" panose="02020603050405020304" pitchFamily="18" charset="0"/>
                <a:cs typeface="Times New Roman" panose="02020603050405020304" pitchFamily="18" charset="0"/>
              </a:rPr>
              <a:t> </a:t>
            </a:r>
            <a:r>
              <a:rPr lang="en-US" sz="4000" dirty="0" err="1">
                <a:solidFill>
                  <a:schemeClr val="bg1"/>
                </a:solidFill>
                <a:latin typeface="Times New Roman" panose="02020603050405020304" pitchFamily="18" charset="0"/>
                <a:cs typeface="Times New Roman" panose="02020603050405020304" pitchFamily="18" charset="0"/>
              </a:rPr>
              <a:t>động</a:t>
            </a:r>
            <a:r>
              <a:rPr lang="en-US" sz="4000" dirty="0">
                <a:solidFill>
                  <a:schemeClr val="bg1"/>
                </a:solidFill>
                <a:latin typeface="Times New Roman" panose="02020603050405020304" pitchFamily="18" charset="0"/>
                <a:cs typeface="Times New Roman" panose="02020603050405020304" pitchFamily="18" charset="0"/>
              </a:rPr>
              <a:t> </a:t>
            </a:r>
            <a:r>
              <a:rPr lang="en-US" sz="4000" dirty="0" err="1">
                <a:solidFill>
                  <a:schemeClr val="bg1"/>
                </a:solidFill>
                <a:latin typeface="Times New Roman" panose="02020603050405020304" pitchFamily="18" charset="0"/>
                <a:cs typeface="Times New Roman" panose="02020603050405020304" pitchFamily="18" charset="0"/>
              </a:rPr>
              <a:t>của</a:t>
            </a:r>
            <a:r>
              <a:rPr lang="en-US" sz="4000" dirty="0">
                <a:solidFill>
                  <a:schemeClr val="bg1"/>
                </a:solidFill>
                <a:latin typeface="Times New Roman" panose="02020603050405020304" pitchFamily="18" charset="0"/>
                <a:cs typeface="Times New Roman" panose="02020603050405020304" pitchFamily="18" charset="0"/>
              </a:rPr>
              <a:t> </a:t>
            </a:r>
            <a:r>
              <a:rPr lang="en-US" sz="4000" dirty="0" err="1">
                <a:solidFill>
                  <a:schemeClr val="bg1"/>
                </a:solidFill>
                <a:latin typeface="Times New Roman" panose="02020603050405020304" pitchFamily="18" charset="0"/>
                <a:cs typeface="Times New Roman" panose="02020603050405020304" pitchFamily="18" charset="0"/>
              </a:rPr>
              <a:t>trang</a:t>
            </a:r>
            <a:r>
              <a:rPr lang="en-US" sz="4000" dirty="0">
                <a:solidFill>
                  <a:schemeClr val="bg1"/>
                </a:solidFill>
                <a:latin typeface="Times New Roman" panose="02020603050405020304" pitchFamily="18" charset="0"/>
                <a:cs typeface="Times New Roman" panose="02020603050405020304" pitchFamily="18" charset="0"/>
              </a:rPr>
              <a:t> web </a:t>
            </a:r>
            <a:r>
              <a:rPr lang="en-US" sz="4000" dirty="0" err="1">
                <a:solidFill>
                  <a:schemeClr val="bg1"/>
                </a:solidFill>
                <a:latin typeface="Times New Roman" panose="02020603050405020304" pitchFamily="18" charset="0"/>
                <a:cs typeface="Times New Roman" panose="02020603050405020304" pitchFamily="18" charset="0"/>
              </a:rPr>
              <a:t>hệ</a:t>
            </a:r>
            <a:r>
              <a:rPr lang="en-US" sz="4000" dirty="0">
                <a:solidFill>
                  <a:schemeClr val="bg1"/>
                </a:solidFill>
                <a:latin typeface="Times New Roman" panose="02020603050405020304" pitchFamily="18" charset="0"/>
                <a:cs typeface="Times New Roman" panose="02020603050405020304" pitchFamily="18" charset="0"/>
              </a:rPr>
              <a:t> </a:t>
            </a:r>
            <a:r>
              <a:rPr lang="en-US" sz="4000" dirty="0" err="1">
                <a:solidFill>
                  <a:schemeClr val="bg1"/>
                </a:solidFill>
                <a:latin typeface="Times New Roman" panose="02020603050405020304" pitchFamily="18" charset="0"/>
                <a:cs typeface="Times New Roman" panose="02020603050405020304" pitchFamily="18" charset="0"/>
              </a:rPr>
              <a:t>thống</a:t>
            </a:r>
            <a:r>
              <a:rPr lang="en-US" sz="4000" dirty="0">
                <a:solidFill>
                  <a:schemeClr val="bg1"/>
                </a:solidFill>
                <a:latin typeface="Times New Roman" panose="02020603050405020304" pitchFamily="18" charset="0"/>
                <a:cs typeface="Times New Roman" panose="02020603050405020304" pitchFamily="18" charset="0"/>
              </a:rPr>
              <a:t> </a:t>
            </a:r>
            <a:r>
              <a:rPr lang="en-US" sz="4000" dirty="0" err="1">
                <a:solidFill>
                  <a:schemeClr val="bg1"/>
                </a:solidFill>
                <a:latin typeface="Times New Roman" panose="02020603050405020304" pitchFamily="18" charset="0"/>
                <a:cs typeface="Times New Roman" panose="02020603050405020304" pitchFamily="18" charset="0"/>
              </a:rPr>
              <a:t>quản</a:t>
            </a:r>
            <a:r>
              <a:rPr lang="en-US" sz="4000" dirty="0">
                <a:solidFill>
                  <a:schemeClr val="bg1"/>
                </a:solidFill>
                <a:latin typeface="Times New Roman" panose="02020603050405020304" pitchFamily="18" charset="0"/>
                <a:cs typeface="Times New Roman" panose="02020603050405020304" pitchFamily="18" charset="0"/>
              </a:rPr>
              <a:t> </a:t>
            </a:r>
            <a:r>
              <a:rPr lang="en-US" sz="4000" dirty="0" err="1">
                <a:solidFill>
                  <a:schemeClr val="bg1"/>
                </a:solidFill>
                <a:latin typeface="Times New Roman" panose="02020603050405020304" pitchFamily="18" charset="0"/>
                <a:cs typeface="Times New Roman" panose="02020603050405020304" pitchFamily="18" charset="0"/>
              </a:rPr>
              <a:t>lý</a:t>
            </a:r>
            <a:r>
              <a:rPr lang="en-US" sz="4000" dirty="0">
                <a:solidFill>
                  <a:schemeClr val="bg1"/>
                </a:solidFill>
                <a:latin typeface="Times New Roman" panose="02020603050405020304" pitchFamily="18" charset="0"/>
                <a:cs typeface="Times New Roman" panose="02020603050405020304" pitchFamily="18" charset="0"/>
              </a:rPr>
              <a:t> Coffee</a:t>
            </a:r>
          </a:p>
        </p:txBody>
      </p:sp>
    </p:spTree>
    <p:extLst>
      <p:ext uri="{BB962C8B-B14F-4D97-AF65-F5344CB8AC3E}">
        <p14:creationId xmlns:p14="http://schemas.microsoft.com/office/powerpoint/2010/main" val="1152586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id="{49F3708C-D944-4F45-BAFF-FAF2FACD3099}"/>
              </a:ext>
            </a:extLst>
          </p:cNvPr>
          <p:cNvPicPr>
            <a:picLocks noChangeAspect="1"/>
          </p:cNvPicPr>
          <p:nvPr/>
        </p:nvPicPr>
        <p:blipFill>
          <a:blip r:embed="rId3"/>
          <a:stretch>
            <a:fillRect/>
          </a:stretch>
        </p:blipFill>
        <p:spPr>
          <a:xfrm>
            <a:off x="16840200" y="8610600"/>
            <a:ext cx="1676400" cy="1676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196</TotalTime>
  <Words>790</Words>
  <Application>Microsoft Office PowerPoint</Application>
  <PresentationFormat>Custom</PresentationFormat>
  <Paragraphs>47</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 MT Pro Bold</vt:lpstr>
      <vt:lpstr>Arial MT Pro</vt:lpstr>
      <vt:lpstr>Calibri</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Hệ Thống Quản Lý Coffee – Thiết Kế Web</dc:title>
  <cp:lastModifiedBy>Thanh Tùng</cp:lastModifiedBy>
  <cp:revision>5</cp:revision>
  <dcterms:created xsi:type="dcterms:W3CDTF">2006-08-16T00:00:00Z</dcterms:created>
  <dcterms:modified xsi:type="dcterms:W3CDTF">2026-06-10T03:14:14Z</dcterms:modified>
  <dc:identifier>DAHMCQmSXvk</dc:identifier>
</cp:coreProperties>
</file>